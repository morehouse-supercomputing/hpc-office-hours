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00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etwo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148840"/>
            <a:ext cx="109728" cy="210312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MOREHOUSE SUPERCOMPUTING FACILITY (MSF)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14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0" b="1">
                <a:solidFill>
                  <a:srgbClr val="FFFFFF"/>
                </a:solidFill>
                <a:latin typeface="Arial"/>
              </a:rPr>
              <a:t>WELCOME TO
HPC OFFICE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Georgia"/>
              </a:rPr>
              <a:t>Dr. Ashley Scruse</a:t>
            </a:r>
            <a:r>
              <a:rPr sz="2000" b="0">
                <a:solidFill>
                  <a:srgbClr val="FFFFFF"/>
                </a:solidFill>
                <a:latin typeface="Georgia"/>
              </a:rPr>
              <a:t>  ·  Deputy Director, MSF</a:t>
            </a:r>
          </a:p>
          <a:p>
            <a:pPr algn="l"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Georgia"/>
              </a:rPr>
              <a:t>Tonight: getting you onto the supercomputer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TONIGHT, WE DIP OUR TOES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453384" cy="210312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Get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67784" y="1737360"/>
            <a:ext cx="3453384" cy="210312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67784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2104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Finish onboarding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5488" y="1737360"/>
            <a:ext cx="3453384" cy="210312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5488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9808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9808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Explore the system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6052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6052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16052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THE ONE REQUIREMENT  </a:t>
            </a:r>
            <a:r>
              <a:rPr sz="2000" b="0">
                <a:solidFill>
                  <a:srgbClr val="FFFFFF"/>
                </a:solidFill>
                <a:latin typeface="Georgia"/>
              </a:rPr>
              <a:t>Leave tonight with MFA set up and able to log in.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349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4A4A4A"/>
                </a:solidFill>
                <a:latin typeface="Georgia"/>
              </a:rPr>
              <a:t>Everything else is optional. Follow along or just watch. No jobs, no code, nothing to memorize.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cruse-supercomputer.jpg"/>
          <p:cNvPicPr>
            <a:picLocks noChangeAspect="1"/>
          </p:cNvPicPr>
          <p:nvPr/>
        </p:nvPicPr>
        <p:blipFill>
          <a:blip r:embed="rId2"/>
          <a:srcRect l="6151" r="6151"/>
          <a:stretch>
            <a:fillRect/>
          </a:stretch>
        </p:blipFill>
        <p:spPr>
          <a:xfrm>
            <a:off x="7680960" y="0"/>
            <a:ext cx="451073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6583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YOU NOW HAVE ACCESS TO A NATIONAL SUPERCOMPUTER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64922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00000"/>
                </a:solidFill>
                <a:latin typeface="Georgia"/>
              </a:rPr>
              <a:t>A national academic computing resource, </a:t>
            </a:r>
            <a:r>
              <a:rPr sz="2200" b="0">
                <a:solidFill>
                  <a:srgbClr val="000000"/>
                </a:solidFill>
                <a:latin typeface="Georgia"/>
              </a:rPr>
              <a:t>shared by researchers across the country</a:t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>Thousands of computers, called </a:t>
            </a:r>
            <a:r>
              <a:rPr sz="2200" b="1">
                <a:solidFill>
                  <a:srgbClr val="840028"/>
                </a:solidFill>
                <a:latin typeface="Georgia"/>
              </a:rPr>
              <a:t>nodes</a:t>
            </a:r>
            <a:r>
              <a:rPr sz="2200" b="0">
                <a:solidFill>
                  <a:srgbClr val="000000"/>
                </a:solidFill>
                <a:latin typeface="Georgia"/>
              </a:rPr>
              <a:t>, working together</a:t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2200" b="0">
                <a:solidFill>
                  <a:srgbClr val="000000"/>
                </a:solidFill>
                <a:latin typeface="Georgia"/>
              </a:rPr>
              <a:t>Built for work too big or too slow for a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ONE RESOURCE, SEVERAL SYSTEMS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cks-aisle.jpg"/>
          <p:cNvPicPr>
            <a:picLocks noChangeAspect="1"/>
          </p:cNvPicPr>
          <p:nvPr/>
        </p:nvPicPr>
        <p:blipFill>
          <a:blip r:embed="rId2"/>
          <a:srcRect t="11531" b="26906"/>
          <a:stretch>
            <a:fillRect/>
          </a:stretch>
        </p:blipFill>
        <p:spPr>
          <a:xfrm>
            <a:off x="640080" y="1691640"/>
            <a:ext cx="3453384" cy="28346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4526280"/>
            <a:ext cx="3453384" cy="10972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645152"/>
            <a:ext cx="3453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Arial"/>
              </a:rPr>
              <a:t>VISTA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Georgia"/>
              </a:rPr>
              <a:t>Our focus tonight</a:t>
            </a:r>
          </a:p>
        </p:txBody>
      </p:sp>
      <p:pic>
        <p:nvPicPr>
          <p:cNvPr id="8" name="Picture 7" descr="stampede.jpg"/>
          <p:cNvPicPr>
            <a:picLocks noChangeAspect="1"/>
          </p:cNvPicPr>
          <p:nvPr/>
        </p:nvPicPr>
        <p:blipFill>
          <a:blip r:embed="rId3"/>
          <a:srcRect t="11531" b="26906"/>
          <a:stretch>
            <a:fillRect/>
          </a:stretch>
        </p:blipFill>
        <p:spPr>
          <a:xfrm>
            <a:off x="4367784" y="1691640"/>
            <a:ext cx="3453384" cy="2834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7784" y="4526280"/>
            <a:ext cx="3453384" cy="10972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2104" y="4645152"/>
            <a:ext cx="3453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STAMPEDE3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2104" y="5120640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Also available to you</a:t>
            </a:r>
          </a:p>
        </p:txBody>
      </p:sp>
      <p:pic>
        <p:nvPicPr>
          <p:cNvPr id="12" name="Picture 11" descr="racks-close.jpg"/>
          <p:cNvPicPr>
            <a:picLocks noChangeAspect="1"/>
          </p:cNvPicPr>
          <p:nvPr/>
        </p:nvPicPr>
        <p:blipFill>
          <a:blip r:embed="rId4"/>
          <a:srcRect t="11531" b="26906"/>
          <a:stretch>
            <a:fillRect/>
          </a:stretch>
        </p:blipFill>
        <p:spPr>
          <a:xfrm>
            <a:off x="8095488" y="1691640"/>
            <a:ext cx="3453384" cy="28346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095488" y="4526280"/>
            <a:ext cx="3453384" cy="10972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9808" y="4645152"/>
            <a:ext cx="3453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840028"/>
                </a:solidFill>
                <a:latin typeface="Arial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9808" y="5120640"/>
            <a:ext cx="3453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Also available to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4A4A4A"/>
                </a:solidFill>
                <a:latin typeface="Georgia"/>
              </a:rPr>
              <a:t>Same account, same login. Each system is built for different kinds of work.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WHEN DO YOU NEED IT?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Too big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Your data is too big to open on a laptop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3435858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35858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0178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10178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Too slow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0178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Your analysis takes hours or days to run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1636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5956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5956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Too many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5956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You need to run the same thing many times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7414" y="1737360"/>
            <a:ext cx="2521458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27414" y="1737360"/>
            <a:ext cx="2521458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1734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1734" y="2697480"/>
            <a:ext cx="197281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Build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01734" y="3383280"/>
            <a:ext cx="197281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Linux, shared computing, and the tools research runs 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98348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498348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98348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GOOD NEWS  </a:t>
            </a:r>
            <a:r>
              <a:rPr sz="2000" b="0">
                <a:solidFill>
                  <a:srgbClr val="FFFFFF"/>
                </a:solidFill>
                <a:latin typeface="Georgia"/>
              </a:rPr>
              <a:t>Your project doesn't have to need a supercomputer. Learning how to use one counts.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00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ks-close.jpg"/>
          <p:cNvPicPr>
            <a:picLocks noChangeAspect="1"/>
          </p:cNvPicPr>
          <p:nvPr/>
        </p:nvPicPr>
        <p:blipFill>
          <a:blip r:embed="rId2"/>
          <a:srcRect l="6151" r="6151"/>
          <a:stretch>
            <a:fillRect/>
          </a:stretch>
        </p:blipFill>
        <p:spPr>
          <a:xfrm>
            <a:off x="7680960" y="0"/>
            <a:ext cx="451073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40080" y="2377440"/>
            <a:ext cx="109728" cy="192024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6400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000" b="1">
                <a:solidFill>
                  <a:srgbClr val="FFFFFF"/>
                </a:solidFill>
                <a:latin typeface="Arial"/>
              </a:rPr>
              <a:t>A SHARED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FFFFF"/>
                </a:solidFill>
                <a:latin typeface="Georgia"/>
              </a:rPr>
              <a:t>You share this machine with researchers around the world. Shared systems come with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D8B8C2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NODE VS. 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904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A4A4A"/>
                </a:solidFill>
                <a:latin typeface="Georgia"/>
              </a:rPr>
              <a:t>One worker inside a processor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C1A231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A4A4A"/>
                </a:solidFill>
                <a:latin typeface="Georgia"/>
              </a:rPr>
              <a:t>worker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3464" y="292608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7784" y="1737360"/>
            <a:ext cx="3453384" cy="29260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2104" y="196596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NODE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2104" y="2468880"/>
            <a:ext cx="2904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FFFFFF"/>
                </a:solidFill>
                <a:latin typeface="Georgia"/>
              </a:rPr>
              <a:t>One whole computer, full of 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2104" y="320040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C1A231"/>
                </a:solidFill>
                <a:latin typeface="Arial"/>
              </a:rPr>
              <a:t>144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2104" y="406908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C1A231"/>
                </a:solidFill>
                <a:latin typeface="Georgia"/>
              </a:rPr>
              <a:t>cores per CPU node (72 per GPU node)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1168" y="292608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5488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9808" y="196596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VISTA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9808" y="2468880"/>
            <a:ext cx="290474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A4A4A"/>
                </a:solidFill>
                <a:latin typeface="Georgia"/>
              </a:rPr>
              <a:t>All the nodes wired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9808" y="320040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C1A231"/>
                </a:solidFill>
                <a:latin typeface="Arial"/>
              </a:rPr>
              <a:t>856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9808" y="4069080"/>
            <a:ext cx="2904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A4A4A"/>
                </a:solidFill>
                <a:latin typeface="Georgia"/>
              </a:rPr>
              <a:t>nodes: 256 CPU + 600 GPU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98348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98348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VISTA IN TOTAL  </a:t>
            </a:r>
            <a:r>
              <a:rPr sz="2000" b="0">
                <a:solidFill>
                  <a:srgbClr val="FFFFFF"/>
                </a:solidFill>
                <a:latin typeface="Georgia"/>
              </a:rPr>
              <a:t>856 nodes and 80,064 cores working together.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LOGIN NODES VS. COMPUTE NODES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5394960" cy="6858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94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LOGIN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40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Where you land when you log 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90672"/>
            <a:ext cx="53949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090672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Shared by everyone at once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03904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803904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Organize files, edit, submit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394960" cy="6858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53912" y="1691640"/>
            <a:ext cx="53949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COMPUTE NODE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2377440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3912" y="2377440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Where the real work 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3090672"/>
            <a:ext cx="539496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3912" y="3090672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Reserved for you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3803904"/>
            <a:ext cx="5394960" cy="713232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3803904"/>
            <a:ext cx="5394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900" b="0">
                <a:solidFill>
                  <a:srgbClr val="000000"/>
                </a:solidFill>
                <a:latin typeface="Georgia"/>
              </a:rPr>
              <a:t>Heavy analysis, big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1691640"/>
            <a:ext cx="118872" cy="2825496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89204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89204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89204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THINK OF IT AS  </a:t>
            </a:r>
            <a:r>
              <a:rPr sz="2000" b="0">
                <a:solidFill>
                  <a:srgbClr val="FFFFFF"/>
                </a:solidFill>
                <a:latin typeface="Georgia"/>
              </a:rPr>
              <a:t>The login node is the lobby. The compute nodes are the labs.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THREE PLACES FOR YOUR FILES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40"/>
          <a:ext cx="1090879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752344"/>
                <a:gridCol w="2752344"/>
                <a:gridCol w="2752344"/>
              </a:tblGrid>
              <a:tr h="566928"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$HOME</a:t>
                      </a:r>
                    </a:p>
                  </a:txBody>
                  <a:tcPr anchor="ctr" marL="182880" marR="182880">
                    <a:solidFill>
                      <a:srgbClr val="8400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$WORK</a:t>
                      </a:r>
                    </a:p>
                  </a:txBody>
                  <a:tcPr anchor="ctr" marL="182880" marR="182880">
                    <a:solidFill>
                      <a:srgbClr val="8400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800">
                          <a:solidFill>
                            <a:srgbClr val="FFFFFF"/>
                          </a:solidFill>
                          <a:latin typeface="Arial"/>
                        </a:rPr>
                        <a:t>$SCRATCH</a:t>
                      </a:r>
                    </a:p>
                  </a:txBody>
                  <a:tcPr anchor="ctr" marL="182880" marR="182880">
                    <a:solidFill>
                      <a:srgbClr val="8400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Space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23 GB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1 TB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No limit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For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Settings, small scripts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Your projects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Big, temporary runs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Backed up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182880" marR="182880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840028"/>
                          </a:solidFill>
                          <a:latin typeface="Arial"/>
                        </a:rPr>
                        <a:t>Deleted automatically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Never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Never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0" sz="1600">
                          <a:solidFill>
                            <a:srgbClr val="000000"/>
                          </a:solidFill>
                          <a:latin typeface="Georgia"/>
                        </a:rPr>
                        <a:t>After 10 days untouched</a:t>
                      </a:r>
                    </a:p>
                  </a:txBody>
                  <a:tcPr anchor="ctr" marL="182880" marR="182880">
                    <a:solidFill>
                      <a:srgbClr val="F4F1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489204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89204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RULE OF THUMB  </a:t>
            </a:r>
            <a:r>
              <a:rPr sz="2000" b="0">
                <a:solidFill>
                  <a:srgbClr val="FFFFFF"/>
                </a:solidFill>
                <a:latin typeface="Georgia"/>
              </a:rPr>
              <a:t>Keep your projects in $WORK. Treat $SCRATCH as temporary.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THREE WAYS TO GET A COMPUTE NODE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Queue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290474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Submit a job and wait your turn. First come, first served. Best for long or overnight runs.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7784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67784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2104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2104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Interactive session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2104" y="3383280"/>
            <a:ext cx="290474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Work on a compute node live. Good for testing code. Coming in the next workshop.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5488" y="1737360"/>
            <a:ext cx="3453384" cy="2926080"/>
          </a:xfrm>
          <a:prstGeom prst="rect">
            <a:avLst/>
          </a:prstGeom>
          <a:solidFill>
            <a:srgbClr val="F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5488" y="1737360"/>
            <a:ext cx="3453384" cy="73152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9808" y="2011680"/>
            <a:ext cx="914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C1A231"/>
                </a:solidFill>
                <a:latin typeface="Arial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9808" y="2697480"/>
            <a:ext cx="2904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Reservation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9808" y="3383280"/>
            <a:ext cx="2904744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4A4A4A"/>
                </a:solidFill>
                <a:latin typeface="Georgia"/>
              </a:rPr>
              <a:t>Book nodes ahead of time with a ticket in the user portal. "Two Grace Hopper GPU nodes on Vista, Thursday 8am to 8pm."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983480"/>
            <a:ext cx="10908792" cy="86868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83480"/>
            <a:ext cx="109728" cy="868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983480"/>
            <a:ext cx="103327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TEST BEFORE YOU QUEUE  </a:t>
            </a:r>
            <a:r>
              <a:rPr sz="2000" b="0">
                <a:solidFill>
                  <a:srgbClr val="FFFFFF"/>
                </a:solidFill>
                <a:latin typeface="Georgia"/>
              </a:rPr>
              <a:t>A script that fails after hours in line sends you to the back of the line.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840028"/>
                </a:solidFill>
                <a:latin typeface="Arial"/>
              </a:rPr>
              <a:t>THE RULES OF THE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73736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No heavy work on the login node.  </a:t>
            </a:r>
            <a:r>
              <a:rPr sz="2000" b="0">
                <a:solidFill>
                  <a:srgbClr val="000000"/>
                </a:solidFill>
                <a:latin typeface="Georgia"/>
              </a:rPr>
              <a:t>It is shared. Heavy work goes to compute nodes.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83464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Your account is yours.  </a:t>
            </a:r>
            <a:r>
              <a:rPr sz="2000" b="0">
                <a:solidFill>
                  <a:srgbClr val="000000"/>
                </a:solidFill>
                <a:latin typeface="Georgia"/>
              </a:rPr>
              <a:t>Never share your password or MFA.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93192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Keep a copy of anything important.  </a:t>
            </a:r>
            <a:r>
              <a:rPr sz="2000" b="0">
                <a:solidFill>
                  <a:srgbClr val="000000"/>
                </a:solidFill>
                <a:latin typeface="Georgia"/>
              </a:rPr>
              <a:t>$SCRATCH is cleaned out automatically.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029200"/>
            <a:ext cx="914400" cy="914400"/>
          </a:xfrm>
          <a:prstGeom prst="rect">
            <a:avLst/>
          </a:prstGeom>
          <a:solidFill>
            <a:srgbClr val="84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2920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200" b="1">
                <a:solidFill>
                  <a:srgbClr val="C1A231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5029200"/>
            <a:ext cx="96926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840028"/>
                </a:solidFill>
                <a:latin typeface="Arial"/>
              </a:rPr>
              <a:t>Stuck? Ask.  </a:t>
            </a:r>
            <a:r>
              <a:rPr sz="2000" b="0">
                <a:solidFill>
                  <a:srgbClr val="000000"/>
                </a:solidFill>
                <a:latin typeface="Georgia"/>
              </a:rPr>
              <a:t>Breaking something by guessing is worse than 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A7A8AA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00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Arial"/>
              </a:rP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44168"/>
            <a:ext cx="1005840" cy="73152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53309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09728" cy="2011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840028"/>
                </a:solidFill>
                <a:latin typeface="Arial"/>
              </a:rPr>
              <a:t>OCT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88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000000"/>
                </a:solidFill>
                <a:latin typeface="Georgia"/>
              </a:rPr>
              <a:t>What the Data Says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828800"/>
            <a:ext cx="5330952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1828800"/>
            <a:ext cx="109728" cy="2011680"/>
          </a:xfrm>
          <a:prstGeom prst="rect">
            <a:avLst/>
          </a:prstGeom>
          <a:solidFill>
            <a:srgbClr val="C1A2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840028"/>
                </a:solidFill>
                <a:latin typeface="Arial"/>
              </a:rPr>
              <a:t>NOV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88920"/>
            <a:ext cx="4754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000000"/>
                </a:solidFill>
                <a:latin typeface="Georgia"/>
              </a:rPr>
              <a:t>Finding the Pain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DOCUMENTATION   </a:t>
            </a:r>
            <a:r>
              <a:rPr sz="2200" b="0">
                <a:solidFill>
                  <a:srgbClr val="FFFFFF"/>
                </a:solidFill>
                <a:latin typeface="Georgia"/>
              </a:rPr>
              <a:t>docs.tacc.utexas.edu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C1A231"/>
                </a:solidFill>
                <a:latin typeface="Arial"/>
              </a:rPr>
              <a:t>HELP   </a:t>
            </a:r>
            <a:r>
              <a:rPr sz="2200" b="0">
                <a:solidFill>
                  <a:srgbClr val="FFFFFF"/>
                </a:solidFill>
                <a:latin typeface="Georgia"/>
              </a:rPr>
              <a:t>ashley.scruse@morehouse.edu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D8B8C2"/>
                </a:solidFill>
                <a:latin typeface="Arial"/>
              </a:rPr>
              <a:t>MOREHOUSE SUPERCOMPUTING FACILITY  ·  HPC OFFICE HOURS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