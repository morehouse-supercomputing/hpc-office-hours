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4002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etwo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40080" y="2148840"/>
            <a:ext cx="109728" cy="2103120"/>
          </a:xfrm>
          <a:prstGeom prst="rect">
            <a:avLst/>
          </a:prstGeom>
          <a:solidFill>
            <a:srgbClr val="C1A2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C1A231"/>
                </a:solidFill>
                <a:latin typeface="Arial"/>
              </a:rPr>
              <a:t>MOREHOUSE SUPERCOMPUTING FACILITY (MSF)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1460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5400" b="1">
                <a:solidFill>
                  <a:srgbClr val="FFFFFF"/>
                </a:solidFill>
                <a:latin typeface="Arial"/>
              </a:rPr>
              <a:t>WELCOME TO
HPC OFFICE HOURS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FFFFFF"/>
                </a:solidFill>
                <a:latin typeface="Georgia"/>
              </a:rPr>
              <a:t>Dr. Ashley Scruse</a:t>
            </a:r>
            <a:r>
              <a:rPr sz="2000" b="0">
                <a:solidFill>
                  <a:srgbClr val="FFFFFF"/>
                </a:solidFill>
                <a:latin typeface="Georgia"/>
              </a:rPr>
              <a:t>  ·  Deputy Director, MSF</a:t>
            </a:r>
          </a:p>
          <a:p>
            <a:pPr algn="l">
              <a:lnSpc>
                <a:spcPct val="110000"/>
              </a:lnSpc>
            </a:pPr>
            <a:r>
              <a:rPr sz="2000" b="0">
                <a:solidFill>
                  <a:srgbClr val="FFFFFF"/>
                </a:solidFill>
                <a:latin typeface="Georgia"/>
              </a:rPr>
              <a:t>Tonight: getting you onto the supercomputer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840028"/>
                </a:solidFill>
                <a:latin typeface="Arial"/>
              </a:rPr>
              <a:t>TONIGHT, WE DIP OUR TOES IN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44168"/>
            <a:ext cx="1005840" cy="73152"/>
          </a:xfrm>
          <a:prstGeom prst="rect">
            <a:avLst/>
          </a:prstGeom>
          <a:solidFill>
            <a:srgbClr val="C1A2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737360"/>
            <a:ext cx="3453384" cy="2103120"/>
          </a:xfrm>
          <a:prstGeom prst="rect">
            <a:avLst/>
          </a:prstGeom>
          <a:solidFill>
            <a:srgbClr val="F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3453384" cy="73152"/>
          </a:xfrm>
          <a:prstGeom prst="rect">
            <a:avLst/>
          </a:prstGeom>
          <a:solidFill>
            <a:srgbClr val="84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C1A231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97480"/>
            <a:ext cx="290474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840028"/>
                </a:solidFill>
                <a:latin typeface="Arial"/>
              </a:rPr>
              <a:t>Get access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4367784" y="1737360"/>
            <a:ext cx="3453384" cy="2103120"/>
          </a:xfrm>
          <a:prstGeom prst="rect">
            <a:avLst/>
          </a:prstGeom>
          <a:solidFill>
            <a:srgbClr val="F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67784" y="1737360"/>
            <a:ext cx="3453384" cy="73152"/>
          </a:xfrm>
          <a:prstGeom prst="rect">
            <a:avLst/>
          </a:prstGeom>
          <a:solidFill>
            <a:srgbClr val="84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2104" y="2011680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C1A231"/>
                </a:solidFill>
                <a:latin typeface="Arial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2104" y="2697480"/>
            <a:ext cx="290474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840028"/>
                </a:solidFill>
                <a:latin typeface="Arial"/>
              </a:rPr>
              <a:t>Finish onboarding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5488" y="1737360"/>
            <a:ext cx="3453384" cy="2103120"/>
          </a:xfrm>
          <a:prstGeom prst="rect">
            <a:avLst/>
          </a:prstGeom>
          <a:solidFill>
            <a:srgbClr val="F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95488" y="1737360"/>
            <a:ext cx="3453384" cy="73152"/>
          </a:xfrm>
          <a:prstGeom prst="rect">
            <a:avLst/>
          </a:prstGeom>
          <a:solidFill>
            <a:srgbClr val="84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9808" y="2011680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C1A231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9808" y="2697480"/>
            <a:ext cx="290474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840028"/>
                </a:solidFill>
                <a:latin typeface="Arial"/>
              </a:rPr>
              <a:t>Explore the system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160520"/>
            <a:ext cx="10908792" cy="868680"/>
          </a:xfrm>
          <a:prstGeom prst="rect">
            <a:avLst/>
          </a:prstGeom>
          <a:solidFill>
            <a:srgbClr val="84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160520"/>
            <a:ext cx="109728" cy="868680"/>
          </a:xfrm>
          <a:prstGeom prst="rect">
            <a:avLst/>
          </a:prstGeom>
          <a:solidFill>
            <a:srgbClr val="C1A2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160520"/>
            <a:ext cx="103327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C1A231"/>
                </a:solidFill>
                <a:latin typeface="Arial"/>
              </a:rPr>
              <a:t>THE ONE REQUIREMENT  </a:t>
            </a:r>
            <a:r>
              <a:rPr sz="2000" b="0">
                <a:solidFill>
                  <a:srgbClr val="FFFFFF"/>
                </a:solidFill>
                <a:latin typeface="Georgia"/>
              </a:rPr>
              <a:t>Leave tonight with MFA set up and able to log in.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34924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4A4A4A"/>
                </a:solidFill>
                <a:latin typeface="Georgia"/>
              </a:rPr>
              <a:t>Everything else is optional. Follow along or just watch. No jobs, no code, nothing to memorize.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A7A8AA"/>
                </a:solidFill>
                <a:latin typeface="Arial"/>
              </a:rPr>
              <a:t>MOREHOUSE SUPERCOMPUTING FACILITY  ·  HPC OFFICE HOURS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ruse-supercomputer.jpg"/>
          <p:cNvPicPr>
            <a:picLocks noChangeAspect="1"/>
          </p:cNvPicPr>
          <p:nvPr/>
        </p:nvPicPr>
        <p:blipFill>
          <a:blip r:embed="rId2"/>
          <a:srcRect l="6151" r="6151"/>
          <a:stretch>
            <a:fillRect/>
          </a:stretch>
        </p:blipFill>
        <p:spPr>
          <a:xfrm>
            <a:off x="7680960" y="0"/>
            <a:ext cx="451073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02920"/>
            <a:ext cx="6583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840028"/>
                </a:solidFill>
                <a:latin typeface="Arial"/>
              </a:rPr>
              <a:t>YOU NOW HAVE ACCESS TO A NATIONAL SUPERCOMPUTER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286000"/>
            <a:ext cx="1005840" cy="73152"/>
          </a:xfrm>
          <a:prstGeom prst="rect">
            <a:avLst/>
          </a:prstGeom>
          <a:solidFill>
            <a:srgbClr val="C1A2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649224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000000"/>
                </a:solidFill>
                <a:latin typeface="Georgia"/>
              </a:rPr>
              <a:t>A national academic computing resource, </a:t>
            </a:r>
            <a:r>
              <a:rPr sz="2200" b="0">
                <a:solidFill>
                  <a:srgbClr val="000000"/>
                </a:solidFill>
                <a:latin typeface="Georgia"/>
              </a:rPr>
              <a:t>shared by researchers across the country</a:t>
            </a:r>
          </a:p>
          <a:p>
            <a:pPr algn="l">
              <a:lnSpc>
                <a:spcPct val="110000"/>
              </a:lnSpc>
            </a:pPr>
            <a:r>
              <a:rPr sz="2200" b="0">
                <a:solidFill>
                  <a:srgbClr val="000000"/>
                </a:solidFill>
                <a:latin typeface="Georgia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2200" b="0">
                <a:solidFill>
                  <a:srgbClr val="000000"/>
                </a:solidFill>
                <a:latin typeface="Georgia"/>
              </a:rPr>
              <a:t>Thousands of computers, called </a:t>
            </a:r>
            <a:r>
              <a:rPr sz="2200" b="1">
                <a:solidFill>
                  <a:srgbClr val="840028"/>
                </a:solidFill>
                <a:latin typeface="Georgia"/>
              </a:rPr>
              <a:t>nodes</a:t>
            </a:r>
            <a:r>
              <a:rPr sz="2200" b="0">
                <a:solidFill>
                  <a:srgbClr val="000000"/>
                </a:solidFill>
                <a:latin typeface="Georgia"/>
              </a:rPr>
              <a:t>, working together</a:t>
            </a:r>
          </a:p>
          <a:p>
            <a:pPr algn="l">
              <a:lnSpc>
                <a:spcPct val="110000"/>
              </a:lnSpc>
            </a:pPr>
            <a:r>
              <a:rPr sz="2200" b="0">
                <a:solidFill>
                  <a:srgbClr val="000000"/>
                </a:solidFill>
                <a:latin typeface="Georgia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2200" b="0">
                <a:solidFill>
                  <a:srgbClr val="000000"/>
                </a:solidFill>
                <a:latin typeface="Georgia"/>
              </a:rPr>
              <a:t>Built for work too big or too slow for a laptop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A7A8AA"/>
                </a:solidFill>
                <a:latin typeface="Arial"/>
              </a:rPr>
              <a:t>MOREHOUSE SUPERCOMPUTING FACILITY  ·  HPC OFFICE HOURS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840028"/>
                </a:solidFill>
                <a:latin typeface="Arial"/>
              </a:rPr>
              <a:t>ONE RESOURCE, SEVERAL SYSTEMS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44168"/>
            <a:ext cx="1005840" cy="73152"/>
          </a:xfrm>
          <a:prstGeom prst="rect">
            <a:avLst/>
          </a:prstGeom>
          <a:solidFill>
            <a:srgbClr val="C1A2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cks-aisle.jpg"/>
          <p:cNvPicPr>
            <a:picLocks noChangeAspect="1"/>
          </p:cNvPicPr>
          <p:nvPr/>
        </p:nvPicPr>
        <p:blipFill>
          <a:blip r:embed="rId2"/>
          <a:srcRect t="11531" b="26906"/>
          <a:stretch>
            <a:fillRect/>
          </a:stretch>
        </p:blipFill>
        <p:spPr>
          <a:xfrm>
            <a:off x="640080" y="1691640"/>
            <a:ext cx="3453384" cy="28346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4526280"/>
            <a:ext cx="3453384" cy="1097280"/>
          </a:xfrm>
          <a:prstGeom prst="rect">
            <a:avLst/>
          </a:prstGeom>
          <a:solidFill>
            <a:srgbClr val="84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645152"/>
            <a:ext cx="3453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FFFFFF"/>
                </a:solidFill>
                <a:latin typeface="Arial"/>
              </a:rPr>
              <a:t>VISTA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3453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C1A231"/>
                </a:solidFill>
                <a:latin typeface="Georgia"/>
              </a:rPr>
              <a:t>Our focus tonight</a:t>
            </a:r>
          </a:p>
        </p:txBody>
      </p:sp>
      <p:pic>
        <p:nvPicPr>
          <p:cNvPr id="8" name="Picture 7" descr="stampede.jpg"/>
          <p:cNvPicPr>
            <a:picLocks noChangeAspect="1"/>
          </p:cNvPicPr>
          <p:nvPr/>
        </p:nvPicPr>
        <p:blipFill>
          <a:blip r:embed="rId3"/>
          <a:srcRect t="11531" b="26906"/>
          <a:stretch>
            <a:fillRect/>
          </a:stretch>
        </p:blipFill>
        <p:spPr>
          <a:xfrm>
            <a:off x="4367784" y="1691640"/>
            <a:ext cx="3453384" cy="28346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367784" y="4526280"/>
            <a:ext cx="3453384" cy="1097280"/>
          </a:xfrm>
          <a:prstGeom prst="rect">
            <a:avLst/>
          </a:prstGeom>
          <a:solidFill>
            <a:srgbClr val="F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2104" y="4645152"/>
            <a:ext cx="3453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840028"/>
                </a:solidFill>
                <a:latin typeface="Arial"/>
              </a:rPr>
              <a:t>STAMPEDE3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2104" y="5120640"/>
            <a:ext cx="3453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4A4A4A"/>
                </a:solidFill>
                <a:latin typeface="Georgia"/>
              </a:rPr>
              <a:t>Also available to you</a:t>
            </a:r>
          </a:p>
        </p:txBody>
      </p:sp>
      <p:pic>
        <p:nvPicPr>
          <p:cNvPr id="12" name="Picture 11" descr="racks-close.jpg"/>
          <p:cNvPicPr>
            <a:picLocks noChangeAspect="1"/>
          </p:cNvPicPr>
          <p:nvPr/>
        </p:nvPicPr>
        <p:blipFill>
          <a:blip r:embed="rId4"/>
          <a:srcRect t="11531" b="26906"/>
          <a:stretch>
            <a:fillRect/>
          </a:stretch>
        </p:blipFill>
        <p:spPr>
          <a:xfrm>
            <a:off x="8095488" y="1691640"/>
            <a:ext cx="3453384" cy="283464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8095488" y="4526280"/>
            <a:ext cx="3453384" cy="1097280"/>
          </a:xfrm>
          <a:prstGeom prst="rect">
            <a:avLst/>
          </a:prstGeom>
          <a:solidFill>
            <a:srgbClr val="F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9808" y="4645152"/>
            <a:ext cx="3453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840028"/>
                </a:solidFill>
                <a:latin typeface="Arial"/>
              </a:rPr>
              <a:t>FRONTERA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9808" y="5120640"/>
            <a:ext cx="3453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4A4A4A"/>
                </a:solidFill>
                <a:latin typeface="Georgia"/>
              </a:rPr>
              <a:t>Also available to you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4A4A4A"/>
                </a:solidFill>
                <a:latin typeface="Georgia"/>
              </a:rPr>
              <a:t>Same account, same login. Each system is built for different kinds of work.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A7A8AA"/>
                </a:solidFill>
                <a:latin typeface="Arial"/>
              </a:rPr>
              <a:t>MOREHOUSE SUPERCOMPUTING FACILITY  ·  HPC OFFICE HOURS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840028"/>
                </a:solidFill>
                <a:latin typeface="Arial"/>
              </a:rPr>
              <a:t>WHEN DO YOU NEED IT?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44168"/>
            <a:ext cx="1005840" cy="73152"/>
          </a:xfrm>
          <a:prstGeom prst="rect">
            <a:avLst/>
          </a:prstGeom>
          <a:solidFill>
            <a:srgbClr val="C1A2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737360"/>
            <a:ext cx="2521458" cy="2926080"/>
          </a:xfrm>
          <a:prstGeom prst="rect">
            <a:avLst/>
          </a:prstGeom>
          <a:solidFill>
            <a:srgbClr val="F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2521458" cy="73152"/>
          </a:xfrm>
          <a:prstGeom prst="rect">
            <a:avLst/>
          </a:prstGeom>
          <a:solidFill>
            <a:srgbClr val="84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C1A231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97480"/>
            <a:ext cx="197281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840028"/>
                </a:solidFill>
                <a:latin typeface="Arial"/>
              </a:rPr>
              <a:t>Too big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1972818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4A4A4A"/>
                </a:solidFill>
                <a:latin typeface="Georgia"/>
              </a:rPr>
              <a:t>Your data is too big to open on a laptop</a:t>
            </a:r>
          </a:p>
        </p:txBody>
      </p:sp>
      <p:sp>
        <p:nvSpPr>
          <p:cNvPr id="9" name="Rectangle 8"/>
          <p:cNvSpPr/>
          <p:nvPr/>
        </p:nvSpPr>
        <p:spPr>
          <a:xfrm>
            <a:off x="3435858" y="1737360"/>
            <a:ext cx="2521458" cy="2926080"/>
          </a:xfrm>
          <a:prstGeom prst="rect">
            <a:avLst/>
          </a:prstGeom>
          <a:solidFill>
            <a:srgbClr val="F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35858" y="1737360"/>
            <a:ext cx="2521458" cy="73152"/>
          </a:xfrm>
          <a:prstGeom prst="rect">
            <a:avLst/>
          </a:prstGeom>
          <a:solidFill>
            <a:srgbClr val="84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10178" y="2011680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C1A231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10178" y="2697480"/>
            <a:ext cx="197281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840028"/>
                </a:solidFill>
                <a:latin typeface="Arial"/>
              </a:rPr>
              <a:t>Too slow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0178" y="3383280"/>
            <a:ext cx="1972818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4A4A4A"/>
                </a:solidFill>
                <a:latin typeface="Georgia"/>
              </a:rPr>
              <a:t>Your analysis takes hours or days to run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737360"/>
            <a:ext cx="2521458" cy="2926080"/>
          </a:xfrm>
          <a:prstGeom prst="rect">
            <a:avLst/>
          </a:prstGeom>
          <a:solidFill>
            <a:srgbClr val="F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1636" y="1737360"/>
            <a:ext cx="2521458" cy="73152"/>
          </a:xfrm>
          <a:prstGeom prst="rect">
            <a:avLst/>
          </a:prstGeom>
          <a:solidFill>
            <a:srgbClr val="84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5956" y="2011680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C1A231"/>
                </a:solidFill>
                <a:latin typeface="Arial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5956" y="2697480"/>
            <a:ext cx="197281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840028"/>
                </a:solidFill>
                <a:latin typeface="Arial"/>
              </a:rPr>
              <a:t>Too many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5956" y="3383280"/>
            <a:ext cx="1972818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4A4A4A"/>
                </a:solidFill>
                <a:latin typeface="Georgia"/>
              </a:rPr>
              <a:t>You need to run the same thing many times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7414" y="1737360"/>
            <a:ext cx="2521458" cy="2926080"/>
          </a:xfrm>
          <a:prstGeom prst="rect">
            <a:avLst/>
          </a:prstGeom>
          <a:solidFill>
            <a:srgbClr val="F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27414" y="1737360"/>
            <a:ext cx="2521458" cy="73152"/>
          </a:xfrm>
          <a:prstGeom prst="rect">
            <a:avLst/>
          </a:prstGeom>
          <a:solidFill>
            <a:srgbClr val="84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01734" y="2011680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C1A231"/>
                </a:solidFill>
                <a:latin typeface="Arial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01734" y="2697480"/>
            <a:ext cx="197281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840028"/>
                </a:solidFill>
                <a:latin typeface="Arial"/>
              </a:rPr>
              <a:t>Build skills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01734" y="3383280"/>
            <a:ext cx="1972818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4A4A4A"/>
                </a:solidFill>
                <a:latin typeface="Georgia"/>
              </a:rPr>
              <a:t>Linux, shared computing, and the tools research runs 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4983480"/>
            <a:ext cx="10908792" cy="868680"/>
          </a:xfrm>
          <a:prstGeom prst="rect">
            <a:avLst/>
          </a:prstGeom>
          <a:solidFill>
            <a:srgbClr val="84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4983480"/>
            <a:ext cx="109728" cy="868680"/>
          </a:xfrm>
          <a:prstGeom prst="rect">
            <a:avLst/>
          </a:prstGeom>
          <a:solidFill>
            <a:srgbClr val="C1A2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983480"/>
            <a:ext cx="103327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C1A231"/>
                </a:solidFill>
                <a:latin typeface="Arial"/>
              </a:rPr>
              <a:t>GOOD NEWS  </a:t>
            </a:r>
            <a:r>
              <a:rPr sz="2000" b="0">
                <a:solidFill>
                  <a:srgbClr val="FFFFFF"/>
                </a:solidFill>
                <a:latin typeface="Georgia"/>
              </a:rPr>
              <a:t>Your project doesn't have to need a supercomputer. Learning how to use one counts.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A7A8AA"/>
                </a:solidFill>
                <a:latin typeface="Arial"/>
              </a:rPr>
              <a:t>MOREHOUSE SUPERCOMPUTING FACILITY  ·  HPC OFFICE HOURS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4002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cks-close.jpg"/>
          <p:cNvPicPr>
            <a:picLocks noChangeAspect="1"/>
          </p:cNvPicPr>
          <p:nvPr/>
        </p:nvPicPr>
        <p:blipFill>
          <a:blip r:embed="rId2"/>
          <a:srcRect l="6151" r="6151"/>
          <a:stretch>
            <a:fillRect/>
          </a:stretch>
        </p:blipFill>
        <p:spPr>
          <a:xfrm>
            <a:off x="7680960" y="0"/>
            <a:ext cx="451073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40080" y="2377440"/>
            <a:ext cx="109728" cy="1920240"/>
          </a:xfrm>
          <a:prstGeom prst="rect">
            <a:avLst/>
          </a:prstGeom>
          <a:solidFill>
            <a:srgbClr val="C1A2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C1A231"/>
                </a:solidFill>
                <a:latin typeface="Arial"/>
              </a:rPr>
              <a:t>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6400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000" b="1">
                <a:solidFill>
                  <a:srgbClr val="FFFFFF"/>
                </a:solidFill>
                <a:latin typeface="Arial"/>
              </a:rPr>
              <a:t>A SHARED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657600"/>
            <a:ext cx="6217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FFFFFF"/>
                </a:solidFill>
                <a:latin typeface="Georgia"/>
              </a:rPr>
              <a:t>You share this machine with researchers around the world. Shared systems come with rules.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D8B8C2"/>
                </a:solidFill>
                <a:latin typeface="Arial"/>
              </a:rPr>
              <a:t>MOREHOUSE SUPERCOMPUTING FACILITY  ·  HPC OFFICE HOURS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840028"/>
                </a:solidFill>
                <a:latin typeface="Arial"/>
              </a:rPr>
              <a:t>NODE VS. CORE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44168"/>
            <a:ext cx="1005840" cy="73152"/>
          </a:xfrm>
          <a:prstGeom prst="rect">
            <a:avLst/>
          </a:prstGeom>
          <a:solidFill>
            <a:srgbClr val="C1A2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737360"/>
            <a:ext cx="3453384" cy="2926080"/>
          </a:xfrm>
          <a:prstGeom prst="rect">
            <a:avLst/>
          </a:prstGeom>
          <a:solidFill>
            <a:srgbClr val="F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65960"/>
            <a:ext cx="2904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840028"/>
                </a:solidFill>
                <a:latin typeface="Arial"/>
              </a:rPr>
              <a:t>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290474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A4A4A"/>
                </a:solidFill>
                <a:latin typeface="Georgia"/>
              </a:rPr>
              <a:t>One worker inside a processor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290474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>
                <a:solidFill>
                  <a:srgbClr val="C1A231"/>
                </a:solidFill>
                <a:latin typeface="Arial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069080"/>
            <a:ext cx="2904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A4A4A"/>
                </a:solidFill>
                <a:latin typeface="Georgia"/>
              </a:rPr>
              <a:t>cores in your laptop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93464" y="2926080"/>
            <a:ext cx="27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000" b="1">
                <a:solidFill>
                  <a:srgbClr val="C1A231"/>
                </a:solidFill>
                <a:latin typeface="Arial"/>
              </a:rPr>
              <a:t>›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7784" y="1737360"/>
            <a:ext cx="3453384" cy="2926080"/>
          </a:xfrm>
          <a:prstGeom prst="rect">
            <a:avLst/>
          </a:prstGeom>
          <a:solidFill>
            <a:srgbClr val="84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42104" y="1965960"/>
            <a:ext cx="2904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FFFF"/>
                </a:solidFill>
                <a:latin typeface="Arial"/>
              </a:rPr>
              <a:t>NODE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2104" y="2468880"/>
            <a:ext cx="290474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FFFFFF"/>
                </a:solidFill>
                <a:latin typeface="Georgia"/>
              </a:rPr>
              <a:t>One whole computer, full of cores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2104" y="3200400"/>
            <a:ext cx="290474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>
                <a:solidFill>
                  <a:srgbClr val="C1A231"/>
                </a:solidFill>
                <a:latin typeface="Arial"/>
              </a:rPr>
              <a:t>144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2104" y="4069080"/>
            <a:ext cx="2904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C1A231"/>
                </a:solidFill>
                <a:latin typeface="Georgia"/>
              </a:rPr>
              <a:t>cores in one Vista CPU node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21168" y="2926080"/>
            <a:ext cx="27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000" b="1">
                <a:solidFill>
                  <a:srgbClr val="C1A231"/>
                </a:solidFill>
                <a:latin typeface="Arial"/>
              </a:rPr>
              <a:t>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5488" y="1737360"/>
            <a:ext cx="3453384" cy="2926080"/>
          </a:xfrm>
          <a:prstGeom prst="rect">
            <a:avLst/>
          </a:prstGeom>
          <a:solidFill>
            <a:srgbClr val="F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9808" y="1965960"/>
            <a:ext cx="2904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840028"/>
                </a:solidFill>
                <a:latin typeface="Arial"/>
              </a:rPr>
              <a:t>SUPERCOMPUTER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9808" y="2468880"/>
            <a:ext cx="290474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A4A4A"/>
                </a:solidFill>
                <a:latin typeface="Georgia"/>
              </a:rPr>
              <a:t>Many nodes wired together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9808" y="3200400"/>
            <a:ext cx="290474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>
                <a:solidFill>
                  <a:srgbClr val="C1A231"/>
                </a:solidFill>
                <a:latin typeface="Arial"/>
              </a:rPr>
              <a:t>100s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9808" y="4069080"/>
            <a:ext cx="2904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A4A4A"/>
                </a:solidFill>
                <a:latin typeface="Georgia"/>
              </a:rPr>
              <a:t>of nodes in Vista alone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983480"/>
            <a:ext cx="10908792" cy="868680"/>
          </a:xfrm>
          <a:prstGeom prst="rect">
            <a:avLst/>
          </a:prstGeom>
          <a:solidFill>
            <a:srgbClr val="84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983480"/>
            <a:ext cx="109728" cy="868680"/>
          </a:xfrm>
          <a:prstGeom prst="rect">
            <a:avLst/>
          </a:prstGeom>
          <a:solidFill>
            <a:srgbClr val="C1A2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4983480"/>
            <a:ext cx="103327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C1A231"/>
                </a:solidFill>
                <a:latin typeface="Arial"/>
              </a:rPr>
              <a:t>THINK OF IT AS  </a:t>
            </a:r>
            <a:r>
              <a:rPr sz="2000" b="0">
                <a:solidFill>
                  <a:srgbClr val="FFFFFF"/>
                </a:solidFill>
                <a:latin typeface="Georgia"/>
              </a:rPr>
              <a:t>A core is one worker. A node is a building of workers. The supercomputer is the campus.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A7A8AA"/>
                </a:solidFill>
                <a:latin typeface="Arial"/>
              </a:rPr>
              <a:t>MOREHOUSE SUPERCOMPUTING FACILITY  ·  HPC OFFICE HOURS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840028"/>
                </a:solidFill>
                <a:latin typeface="Arial"/>
              </a:rPr>
              <a:t>LOGIN NODES VS. COMPUTE NODES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44168"/>
            <a:ext cx="1005840" cy="73152"/>
          </a:xfrm>
          <a:prstGeom prst="rect">
            <a:avLst/>
          </a:prstGeom>
          <a:solidFill>
            <a:srgbClr val="C1A2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691640"/>
            <a:ext cx="5394960" cy="6858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5394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>
                <a:solidFill>
                  <a:srgbClr val="FFFFFF"/>
                </a:solidFill>
                <a:latin typeface="Arial"/>
              </a:rPr>
              <a:t>LOGIN NODE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377440"/>
            <a:ext cx="5394960" cy="713232"/>
          </a:xfrm>
          <a:prstGeom prst="rect">
            <a:avLst/>
          </a:prstGeom>
          <a:solidFill>
            <a:srgbClr val="F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53949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900" b="0">
                <a:solidFill>
                  <a:srgbClr val="000000"/>
                </a:solidFill>
                <a:latin typeface="Georgia"/>
              </a:rPr>
              <a:t>Where you land when you log in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090672"/>
            <a:ext cx="539496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090672"/>
            <a:ext cx="53949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900" b="0">
                <a:solidFill>
                  <a:srgbClr val="000000"/>
                </a:solidFill>
                <a:latin typeface="Georgia"/>
              </a:rPr>
              <a:t>Shared by everyone at once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03904"/>
            <a:ext cx="5394960" cy="713232"/>
          </a:xfrm>
          <a:prstGeom prst="rect">
            <a:avLst/>
          </a:prstGeom>
          <a:solidFill>
            <a:srgbClr val="F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803904"/>
            <a:ext cx="53949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900" b="0">
                <a:solidFill>
                  <a:srgbClr val="000000"/>
                </a:solidFill>
                <a:latin typeface="Georgia"/>
              </a:rPr>
              <a:t>Organize files, edit, submit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53912" y="1691640"/>
            <a:ext cx="5394960" cy="685800"/>
          </a:xfrm>
          <a:prstGeom prst="rect">
            <a:avLst/>
          </a:prstGeom>
          <a:solidFill>
            <a:srgbClr val="84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53912" y="1691640"/>
            <a:ext cx="5394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>
                <a:solidFill>
                  <a:srgbClr val="FFFFFF"/>
                </a:solidFill>
                <a:latin typeface="Arial"/>
              </a:rPr>
              <a:t>COMPUTE NODE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3912" y="2377440"/>
            <a:ext cx="5394960" cy="713232"/>
          </a:xfrm>
          <a:prstGeom prst="rect">
            <a:avLst/>
          </a:prstGeom>
          <a:solidFill>
            <a:srgbClr val="F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3912" y="2377440"/>
            <a:ext cx="53949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900" b="0">
                <a:solidFill>
                  <a:srgbClr val="000000"/>
                </a:solidFill>
                <a:latin typeface="Georgia"/>
              </a:rPr>
              <a:t>Where the real work runs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53912" y="3090672"/>
            <a:ext cx="539496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53912" y="3090672"/>
            <a:ext cx="53949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900" b="0">
                <a:solidFill>
                  <a:srgbClr val="000000"/>
                </a:solidFill>
                <a:latin typeface="Georgia"/>
              </a:rPr>
              <a:t>Reserved for you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53912" y="3803904"/>
            <a:ext cx="5394960" cy="713232"/>
          </a:xfrm>
          <a:prstGeom prst="rect">
            <a:avLst/>
          </a:prstGeom>
          <a:solidFill>
            <a:srgbClr val="F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53912" y="3803904"/>
            <a:ext cx="53949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900" b="0">
                <a:solidFill>
                  <a:srgbClr val="000000"/>
                </a:solidFill>
                <a:latin typeface="Georgia"/>
              </a:rPr>
              <a:t>Heavy analysis, big data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1691640"/>
            <a:ext cx="118872" cy="2825496"/>
          </a:xfrm>
          <a:prstGeom prst="rect">
            <a:avLst/>
          </a:prstGeom>
          <a:solidFill>
            <a:srgbClr val="C1A2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892040"/>
            <a:ext cx="10908792" cy="868680"/>
          </a:xfrm>
          <a:prstGeom prst="rect">
            <a:avLst/>
          </a:prstGeom>
          <a:solidFill>
            <a:srgbClr val="84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892040"/>
            <a:ext cx="109728" cy="868680"/>
          </a:xfrm>
          <a:prstGeom prst="rect">
            <a:avLst/>
          </a:prstGeom>
          <a:solidFill>
            <a:srgbClr val="C1A2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4892040"/>
            <a:ext cx="103327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C1A231"/>
                </a:solidFill>
                <a:latin typeface="Arial"/>
              </a:rPr>
              <a:t>THINK OF IT AS  </a:t>
            </a:r>
            <a:r>
              <a:rPr sz="2000" b="0">
                <a:solidFill>
                  <a:srgbClr val="FFFFFF"/>
                </a:solidFill>
                <a:latin typeface="Georgia"/>
              </a:rPr>
              <a:t>The login node is the lobby. The compute nodes are the labs.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A7A8AA"/>
                </a:solidFill>
                <a:latin typeface="Arial"/>
              </a:rPr>
              <a:t>MOREHOUSE SUPERCOMPUTING FACILITY  ·  HPC OFFICE HOURS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840028"/>
                </a:solidFill>
                <a:latin typeface="Arial"/>
              </a:rPr>
              <a:t>THREE PLACES FOR YOUR FILES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44168"/>
            <a:ext cx="1005840" cy="73152"/>
          </a:xfrm>
          <a:prstGeom prst="rect">
            <a:avLst/>
          </a:prstGeom>
          <a:solidFill>
            <a:srgbClr val="C1A2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40"/>
          <a:ext cx="1090879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752344"/>
                <a:gridCol w="2752344"/>
                <a:gridCol w="2752344"/>
              </a:tblGrid>
              <a:tr h="566928">
                <a:tc>
                  <a:txBody>
                    <a:bodyPr/>
                    <a:lstStyle/>
                    <a:p>
                      <a:r>
                        <a:rPr b="1" sz="180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ctr" marL="182880" marR="18288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800">
                          <a:solidFill>
                            <a:srgbClr val="FFFFFF"/>
                          </a:solidFill>
                          <a:latin typeface="Arial"/>
                        </a:rPr>
                        <a:t>$HOME</a:t>
                      </a:r>
                    </a:p>
                  </a:txBody>
                  <a:tcPr anchor="ctr" marL="182880" marR="182880">
                    <a:solidFill>
                      <a:srgbClr val="8400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800">
                          <a:solidFill>
                            <a:srgbClr val="FFFFFF"/>
                          </a:solidFill>
                          <a:latin typeface="Arial"/>
                        </a:rPr>
                        <a:t>$WORK</a:t>
                      </a:r>
                    </a:p>
                  </a:txBody>
                  <a:tcPr anchor="ctr" marL="182880" marR="182880">
                    <a:solidFill>
                      <a:srgbClr val="8400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800">
                          <a:solidFill>
                            <a:srgbClr val="FFFFFF"/>
                          </a:solidFill>
                          <a:latin typeface="Arial"/>
                        </a:rPr>
                        <a:t>$SCRATCH</a:t>
                      </a:r>
                    </a:p>
                  </a:txBody>
                  <a:tcPr anchor="ctr" marL="182880" marR="182880">
                    <a:solidFill>
                      <a:srgbClr val="8400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840028"/>
                          </a:solidFill>
                          <a:latin typeface="Arial"/>
                        </a:rPr>
                        <a:t>Space</a:t>
                      </a:r>
                    </a:p>
                  </a:txBody>
                  <a:tcPr anchor="ctr" marL="182880" marR="182880">
                    <a:solidFill>
                      <a:srgbClr val="F4F1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600">
                          <a:solidFill>
                            <a:srgbClr val="000000"/>
                          </a:solidFill>
                          <a:latin typeface="Georgia"/>
                        </a:rPr>
                        <a:t>23 GB</a:t>
                      </a:r>
                    </a:p>
                  </a:txBody>
                  <a:tcPr anchor="ctr" marL="182880" marR="18288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600">
                          <a:solidFill>
                            <a:srgbClr val="000000"/>
                          </a:solidFill>
                          <a:latin typeface="Georgia"/>
                        </a:rPr>
                        <a:t>1 TB</a:t>
                      </a:r>
                    </a:p>
                  </a:txBody>
                  <a:tcPr anchor="ctr" marL="182880" marR="18288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600">
                          <a:solidFill>
                            <a:srgbClr val="000000"/>
                          </a:solidFill>
                          <a:latin typeface="Georgia"/>
                        </a:rPr>
                        <a:t>No limit</a:t>
                      </a:r>
                    </a:p>
                  </a:txBody>
                  <a:tcPr anchor="ctr" marL="182880" marR="18288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840028"/>
                          </a:solidFill>
                          <a:latin typeface="Arial"/>
                        </a:rPr>
                        <a:t>For</a:t>
                      </a:r>
                    </a:p>
                  </a:txBody>
                  <a:tcPr anchor="ctr" marL="182880" marR="182880">
                    <a:solidFill>
                      <a:srgbClr val="F4F1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600">
                          <a:solidFill>
                            <a:srgbClr val="000000"/>
                          </a:solidFill>
                          <a:latin typeface="Georgia"/>
                        </a:rPr>
                        <a:t>Settings, small scripts</a:t>
                      </a:r>
                    </a:p>
                  </a:txBody>
                  <a:tcPr anchor="ctr" marL="182880" marR="182880">
                    <a:solidFill>
                      <a:srgbClr val="F4F1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600">
                          <a:solidFill>
                            <a:srgbClr val="000000"/>
                          </a:solidFill>
                          <a:latin typeface="Georgia"/>
                        </a:rPr>
                        <a:t>Your projects</a:t>
                      </a:r>
                    </a:p>
                  </a:txBody>
                  <a:tcPr anchor="ctr" marL="182880" marR="182880">
                    <a:solidFill>
                      <a:srgbClr val="F4F1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600">
                          <a:solidFill>
                            <a:srgbClr val="000000"/>
                          </a:solidFill>
                          <a:latin typeface="Georgia"/>
                        </a:rPr>
                        <a:t>Big, temporary runs</a:t>
                      </a:r>
                    </a:p>
                  </a:txBody>
                  <a:tcPr anchor="ctr" marL="182880" marR="182880">
                    <a:solidFill>
                      <a:srgbClr val="F4F1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840028"/>
                          </a:solidFill>
                          <a:latin typeface="Arial"/>
                        </a:rPr>
                        <a:t>Backed up</a:t>
                      </a:r>
                    </a:p>
                  </a:txBody>
                  <a:tcPr anchor="ctr" marL="182880" marR="182880">
                    <a:solidFill>
                      <a:srgbClr val="F4F1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600">
                          <a:solidFill>
                            <a:srgbClr val="000000"/>
                          </a:solidFill>
                          <a:latin typeface="Georgia"/>
                        </a:rPr>
                        <a:t>Yes</a:t>
                      </a:r>
                    </a:p>
                  </a:txBody>
                  <a:tcPr anchor="ctr" marL="182880" marR="18288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600">
                          <a:solidFill>
                            <a:srgbClr val="000000"/>
                          </a:solidFill>
                          <a:latin typeface="Georgia"/>
                        </a:rPr>
                        <a:t>No</a:t>
                      </a:r>
                    </a:p>
                  </a:txBody>
                  <a:tcPr anchor="ctr" marL="182880" marR="18288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600">
                          <a:solidFill>
                            <a:srgbClr val="000000"/>
                          </a:solidFill>
                          <a:latin typeface="Georgia"/>
                        </a:rPr>
                        <a:t>No</a:t>
                      </a:r>
                    </a:p>
                  </a:txBody>
                  <a:tcPr anchor="ctr" marL="182880" marR="18288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840028"/>
                          </a:solidFill>
                          <a:latin typeface="Arial"/>
                        </a:rPr>
                        <a:t>Deleted automatically</a:t>
                      </a:r>
                    </a:p>
                  </a:txBody>
                  <a:tcPr anchor="ctr" marL="182880" marR="182880">
                    <a:solidFill>
                      <a:srgbClr val="F4F1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600">
                          <a:solidFill>
                            <a:srgbClr val="000000"/>
                          </a:solidFill>
                          <a:latin typeface="Georgia"/>
                        </a:rPr>
                        <a:t>Never</a:t>
                      </a:r>
                    </a:p>
                  </a:txBody>
                  <a:tcPr anchor="ctr" marL="182880" marR="182880">
                    <a:solidFill>
                      <a:srgbClr val="F4F1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600">
                          <a:solidFill>
                            <a:srgbClr val="000000"/>
                          </a:solidFill>
                          <a:latin typeface="Georgia"/>
                        </a:rPr>
                        <a:t>Never</a:t>
                      </a:r>
                    </a:p>
                  </a:txBody>
                  <a:tcPr anchor="ctr" marL="182880" marR="182880">
                    <a:solidFill>
                      <a:srgbClr val="F4F1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600">
                          <a:solidFill>
                            <a:srgbClr val="000000"/>
                          </a:solidFill>
                          <a:latin typeface="Georgia"/>
                        </a:rPr>
                        <a:t>After 10 days untouched</a:t>
                      </a:r>
                    </a:p>
                  </a:txBody>
                  <a:tcPr anchor="ctr" marL="182880" marR="182880">
                    <a:solidFill>
                      <a:srgbClr val="F4F1F2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" y="4892040"/>
            <a:ext cx="10908792" cy="868680"/>
          </a:xfrm>
          <a:prstGeom prst="rect">
            <a:avLst/>
          </a:prstGeom>
          <a:solidFill>
            <a:srgbClr val="84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4892040"/>
            <a:ext cx="109728" cy="868680"/>
          </a:xfrm>
          <a:prstGeom prst="rect">
            <a:avLst/>
          </a:prstGeom>
          <a:solidFill>
            <a:srgbClr val="C1A2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892040"/>
            <a:ext cx="103327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C1A231"/>
                </a:solidFill>
                <a:latin typeface="Arial"/>
              </a:rPr>
              <a:t>RULE OF THUMB  </a:t>
            </a:r>
            <a:r>
              <a:rPr sz="2000" b="0">
                <a:solidFill>
                  <a:srgbClr val="FFFFFF"/>
                </a:solidFill>
                <a:latin typeface="Georgia"/>
              </a:rPr>
              <a:t>Keep your projects in $WORK. Treat $SCRATCH as temporary.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A7A8AA"/>
                </a:solidFill>
                <a:latin typeface="Arial"/>
              </a:rPr>
              <a:t>MOREHOUSE SUPERCOMPUTING FACILITY  ·  HPC OFFICE HOURS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840028"/>
                </a:solidFill>
                <a:latin typeface="Arial"/>
              </a:rPr>
              <a:t>THREE WAYS TO GET A COMPUTE NODE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44168"/>
            <a:ext cx="1005840" cy="73152"/>
          </a:xfrm>
          <a:prstGeom prst="rect">
            <a:avLst/>
          </a:prstGeom>
          <a:solidFill>
            <a:srgbClr val="C1A2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737360"/>
            <a:ext cx="3453384" cy="2926080"/>
          </a:xfrm>
          <a:prstGeom prst="rect">
            <a:avLst/>
          </a:prstGeom>
          <a:solidFill>
            <a:srgbClr val="F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3453384" cy="73152"/>
          </a:xfrm>
          <a:prstGeom prst="rect">
            <a:avLst/>
          </a:prstGeom>
          <a:solidFill>
            <a:srgbClr val="84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C1A231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97480"/>
            <a:ext cx="290474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840028"/>
                </a:solidFill>
                <a:latin typeface="Arial"/>
              </a:rPr>
              <a:t>Queue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2904744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4A4A4A"/>
                </a:solidFill>
                <a:latin typeface="Georgia"/>
              </a:rPr>
              <a:t>Submit a job and wait your turn. First come, first served. Best for long or overnight runs.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7784" y="1737360"/>
            <a:ext cx="3453384" cy="2926080"/>
          </a:xfrm>
          <a:prstGeom prst="rect">
            <a:avLst/>
          </a:prstGeom>
          <a:solidFill>
            <a:srgbClr val="F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67784" y="1737360"/>
            <a:ext cx="3453384" cy="73152"/>
          </a:xfrm>
          <a:prstGeom prst="rect">
            <a:avLst/>
          </a:prstGeom>
          <a:solidFill>
            <a:srgbClr val="84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42104" y="2011680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C1A231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2104" y="2697480"/>
            <a:ext cx="290474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840028"/>
                </a:solidFill>
                <a:latin typeface="Arial"/>
              </a:rPr>
              <a:t>Interactive session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2104" y="3383280"/>
            <a:ext cx="2904744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4A4A4A"/>
                </a:solidFill>
                <a:latin typeface="Georgia"/>
              </a:rPr>
              <a:t>Work on a compute node live. Good for testing code. Coming in the next workshop.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5488" y="1737360"/>
            <a:ext cx="3453384" cy="2926080"/>
          </a:xfrm>
          <a:prstGeom prst="rect">
            <a:avLst/>
          </a:prstGeom>
          <a:solidFill>
            <a:srgbClr val="F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5488" y="1737360"/>
            <a:ext cx="3453384" cy="73152"/>
          </a:xfrm>
          <a:prstGeom prst="rect">
            <a:avLst/>
          </a:prstGeom>
          <a:solidFill>
            <a:srgbClr val="84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9808" y="2011680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C1A231"/>
                </a:solidFill>
                <a:latin typeface="Arial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9808" y="2697480"/>
            <a:ext cx="290474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840028"/>
                </a:solidFill>
                <a:latin typeface="Arial"/>
              </a:rPr>
              <a:t>Reservation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9808" y="3383280"/>
            <a:ext cx="2904744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4A4A4A"/>
                </a:solidFill>
                <a:latin typeface="Georgia"/>
              </a:rPr>
              <a:t>Book nodes ahead of time with a ticket in the user portal. "Two Grace Hopper GPU nodes on Vista, Thursday 8am to 8pm."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983480"/>
            <a:ext cx="10908792" cy="868680"/>
          </a:xfrm>
          <a:prstGeom prst="rect">
            <a:avLst/>
          </a:prstGeom>
          <a:solidFill>
            <a:srgbClr val="84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983480"/>
            <a:ext cx="109728" cy="868680"/>
          </a:xfrm>
          <a:prstGeom prst="rect">
            <a:avLst/>
          </a:prstGeom>
          <a:solidFill>
            <a:srgbClr val="C1A2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983480"/>
            <a:ext cx="103327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C1A231"/>
                </a:solidFill>
                <a:latin typeface="Arial"/>
              </a:rPr>
              <a:t>TEST BEFORE YOU QUEUE  </a:t>
            </a:r>
            <a:r>
              <a:rPr sz="2000" b="0">
                <a:solidFill>
                  <a:srgbClr val="FFFFFF"/>
                </a:solidFill>
                <a:latin typeface="Georgia"/>
              </a:rPr>
              <a:t>A script that fails after hours in line sends you to the back of the line.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A7A8AA"/>
                </a:solidFill>
                <a:latin typeface="Arial"/>
              </a:rPr>
              <a:t>MOREHOUSE SUPERCOMPUTING FACILITY  ·  HPC OFFICE HOURS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840028"/>
                </a:solidFill>
                <a:latin typeface="Arial"/>
              </a:rPr>
              <a:t>THE RULES OF THE SYSTEM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44168"/>
            <a:ext cx="1005840" cy="73152"/>
          </a:xfrm>
          <a:prstGeom prst="rect">
            <a:avLst/>
          </a:prstGeom>
          <a:solidFill>
            <a:srgbClr val="C1A2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737360"/>
            <a:ext cx="914400" cy="914400"/>
          </a:xfrm>
          <a:prstGeom prst="rect">
            <a:avLst/>
          </a:prstGeom>
          <a:solidFill>
            <a:srgbClr val="84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200" b="1">
                <a:solidFill>
                  <a:srgbClr val="C1A231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737360"/>
            <a:ext cx="96926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840028"/>
                </a:solidFill>
                <a:latin typeface="Arial"/>
              </a:rPr>
              <a:t>No heavy work on the login node.  </a:t>
            </a:r>
            <a:r>
              <a:rPr sz="2000" b="0">
                <a:solidFill>
                  <a:srgbClr val="000000"/>
                </a:solidFill>
                <a:latin typeface="Georgia"/>
              </a:rPr>
              <a:t>It is shared. Heavy work goes to compute nodes.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34640"/>
            <a:ext cx="914400" cy="914400"/>
          </a:xfrm>
          <a:prstGeom prst="rect">
            <a:avLst/>
          </a:prstGeom>
          <a:solidFill>
            <a:srgbClr val="84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83464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200" b="1">
                <a:solidFill>
                  <a:srgbClr val="C1A231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834640"/>
            <a:ext cx="96926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840028"/>
                </a:solidFill>
                <a:latin typeface="Arial"/>
              </a:rPr>
              <a:t>Your account is yours.  </a:t>
            </a:r>
            <a:r>
              <a:rPr sz="2000" b="0">
                <a:solidFill>
                  <a:srgbClr val="000000"/>
                </a:solidFill>
                <a:latin typeface="Georgia"/>
              </a:rPr>
              <a:t>Never share your password or MFA.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931920"/>
            <a:ext cx="914400" cy="914400"/>
          </a:xfrm>
          <a:prstGeom prst="rect">
            <a:avLst/>
          </a:prstGeom>
          <a:solidFill>
            <a:srgbClr val="84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93192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200" b="1">
                <a:solidFill>
                  <a:srgbClr val="C1A231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931920"/>
            <a:ext cx="96926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840028"/>
                </a:solidFill>
                <a:latin typeface="Arial"/>
              </a:rPr>
              <a:t>Keep a copy of anything important.  </a:t>
            </a:r>
            <a:r>
              <a:rPr sz="2000" b="0">
                <a:solidFill>
                  <a:srgbClr val="000000"/>
                </a:solidFill>
                <a:latin typeface="Georgia"/>
              </a:rPr>
              <a:t>$SCRATCH is cleaned out automatically.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029200"/>
            <a:ext cx="914400" cy="914400"/>
          </a:xfrm>
          <a:prstGeom prst="rect">
            <a:avLst/>
          </a:prstGeom>
          <a:solidFill>
            <a:srgbClr val="84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02920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200" b="1">
                <a:solidFill>
                  <a:srgbClr val="C1A231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5029200"/>
            <a:ext cx="96926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840028"/>
                </a:solidFill>
                <a:latin typeface="Arial"/>
              </a:rPr>
              <a:t>Stuck? Ask.  </a:t>
            </a:r>
            <a:r>
              <a:rPr sz="2000" b="0">
                <a:solidFill>
                  <a:srgbClr val="000000"/>
                </a:solidFill>
                <a:latin typeface="Georgia"/>
              </a:rPr>
              <a:t>Breaking something by guessing is worse than asking.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A7A8AA"/>
                </a:solidFill>
                <a:latin typeface="Arial"/>
              </a:rPr>
              <a:t>MOREHOUSE SUPERCOMPUTING FACILITY  ·  HPC OFFICE HOURS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40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Arial"/>
              </a:rPr>
              <a:t>WHAT'S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44168"/>
            <a:ext cx="1005840" cy="73152"/>
          </a:xfrm>
          <a:prstGeom prst="rect">
            <a:avLst/>
          </a:prstGeom>
          <a:solidFill>
            <a:srgbClr val="C1A2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828800"/>
            <a:ext cx="5330952" cy="2011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109728" cy="2011680"/>
          </a:xfrm>
          <a:prstGeom prst="rect">
            <a:avLst/>
          </a:prstGeom>
          <a:solidFill>
            <a:srgbClr val="C1A2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840028"/>
                </a:solidFill>
                <a:latin typeface="Arial"/>
              </a:rPr>
              <a:t>OCT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78892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000000"/>
                </a:solidFill>
                <a:latin typeface="Georgia"/>
              </a:rPr>
              <a:t>What the Data Says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828800"/>
            <a:ext cx="5330952" cy="2011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828800"/>
            <a:ext cx="109728" cy="2011680"/>
          </a:xfrm>
          <a:prstGeom prst="rect">
            <a:avLst/>
          </a:prstGeom>
          <a:solidFill>
            <a:srgbClr val="C1A2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10312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840028"/>
                </a:solidFill>
                <a:latin typeface="Arial"/>
              </a:rPr>
              <a:t>NOV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78892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000000"/>
                </a:solidFill>
                <a:latin typeface="Georgia"/>
              </a:rPr>
              <a:t>Finding the Pain Point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108813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>
                <a:solidFill>
                  <a:srgbClr val="C1A231"/>
                </a:solidFill>
                <a:latin typeface="Arial"/>
              </a:rPr>
              <a:t>DOCUMENTATION   </a:t>
            </a:r>
            <a:r>
              <a:rPr sz="2200" b="0">
                <a:solidFill>
                  <a:srgbClr val="FFFFFF"/>
                </a:solidFill>
                <a:latin typeface="Georgia"/>
              </a:rPr>
              <a:t>docs.tacc.utexas.edu</a:t>
            </a:r>
          </a:p>
          <a:p>
            <a:pPr algn="l">
              <a:lnSpc>
                <a:spcPct val="150000"/>
              </a:lnSpc>
            </a:pPr>
            <a:r>
              <a:rPr sz="1600" b="1">
                <a:solidFill>
                  <a:srgbClr val="C1A231"/>
                </a:solidFill>
                <a:latin typeface="Arial"/>
              </a:rPr>
              <a:t>HELP   </a:t>
            </a:r>
            <a:r>
              <a:rPr sz="2200" b="0">
                <a:solidFill>
                  <a:srgbClr val="FFFFFF"/>
                </a:solidFill>
                <a:latin typeface="Georgia"/>
              </a:rPr>
              <a:t>ashley.scruse@morehouse.edu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D8B8C2"/>
                </a:solidFill>
                <a:latin typeface="Arial"/>
              </a:rPr>
              <a:t>MOREHOUSE SUPERCOMPUTING FACILITY  ·  HPC OFFICE HOURS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