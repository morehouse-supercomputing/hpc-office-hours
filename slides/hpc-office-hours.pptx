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Deputy Director, MSF.</a:t>
            </a:r>
          </a:p>
          <a:p>
            <a:r>
              <a:t>Relaxed hour. No jobs, no code.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a:t>
            </a:r>
          </a:p>
          <a:p>
            <a:r>
              <a:t>Only requirement: MFA + login.</a:t>
            </a:r>
          </a:p>
          <a:p>
            <a:r>
              <a:t>Then: switch to guide page for MFA.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Stragglers keep working on MFA.</a:t>
            </a:r>
          </a:p>
          <a:p>
            <a:r>
              <a:t>National resource, shared.</a:t>
            </a:r>
          </a:p>
          <a:p>
            <a:r>
              <a:t>Nodes = computers working together.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account, same login.</a:t>
            </a:r>
          </a:p>
          <a:p>
            <a:r>
              <a:t>Vista tonight.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 big, too slow, too many.</a:t>
            </a:r>
          </a:p>
          <a:p>
            <a:r>
              <a:t>Card 4: learning counts.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 machine = rules.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Core = one worker.</a:t>
            </a:r>
          </a:p>
          <a:p>
            <a:r>
              <a:t>Node = 144 cores (72 on GPU nodes).</a:t>
            </a:r>
          </a:p>
          <a:p>
            <a:r>
              <a:t>Vista = 856 nodes, 80,064 cores.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Login node = lobby. Shared.</a:t>
            </a:r>
          </a:p>
          <a:p>
            <a:r>
              <a:t>Compute = labs.</a:t>
            </a:r>
          </a:p>
          <a:p>
            <a:r>
              <a:t>Sets up rule 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HOME small, backed up.</a:t>
            </a:r>
          </a:p>
          <a:p>
            <a:r>
              <a:t>WORK = your projects.</a:t>
            </a:r>
          </a:p>
          <a:p>
            <a:r>
              <a:t>SCRATCH = temporary, 10 days.</a:t>
            </a:r>
          </a:p>
          <a:p>
            <a:r>
              <a:t>These are the folders you'll see in Tapis.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Queue: wait your turn.</a:t>
            </a:r>
          </a:p>
          <a:p>
            <a:r>
              <a:t>Interactive: next workshop.</a:t>
            </a:r>
          </a:p>
          <a:p>
            <a:r>
              <a:t>Reservation: ticket.</a:t>
            </a:r>
          </a:p>
          <a:p>
            <a:r>
              <a:t>Story: waited hours, script failed instantly.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rules. Read them out.</a:t>
            </a:r>
          </a:p>
          <a:p>
            <a:r>
              <a:t>Then: switch to Tapis.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CFPB complaints, ~10M.</a:t>
            </a:r>
          </a:p>
          <a:p>
            <a:r>
              <a:t>Oct 14: three numbers for the Canvas.</a:t>
            </a:r>
          </a:p>
          <a:p>
            <a:r>
              <a:t>Nov 4: the pain point.</a:t>
            </a:r>
          </a:p>
          <a:p>
            <a:r>
              <a:t>Fall evidence = spring prototype.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Guide link.</a:t>
            </a:r>
          </a:p>
          <a:p>
            <a:r>
              <a:t>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840028"/>
        </a:solidFill>
        <a:effectLst/>
      </p:bgPr>
    </p:bg>
    <p:spTree>
      <p:nvGrpSpPr>
        <p:cNvPr id="1" name=""/>
        <p:cNvGrpSpPr/>
        <p:nvPr/>
      </p:nvGrpSpPr>
      <p:grpSpPr/>
      <p:pic>
        <p:nvPicPr>
          <p:cNvPr id="2" name="Picture 1" descr="network-bg.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640080" y="2148840"/>
            <a:ext cx="109728" cy="2103120"/>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lnSpc>
                <a:spcPct val="110000"/>
              </a:lnSpc>
            </a:pPr>
            <a:r>
              <a:rPr sz="1600" b="1">
                <a:solidFill>
                  <a:srgbClr val="C1A231"/>
                </a:solidFill>
                <a:latin typeface="Arial"/>
              </a:rPr>
              <a:t>MOREHOUSE SUPERCOMPUTING FACILITY (MSF)</a:t>
            </a:r>
          </a:p>
        </p:txBody>
      </p:sp>
      <p:sp>
        <p:nvSpPr>
          <p:cNvPr id="5" name="TextBox 4"/>
          <p:cNvSpPr txBox="1"/>
          <p:nvPr/>
        </p:nvSpPr>
        <p:spPr>
          <a:xfrm>
            <a:off x="1005840" y="2514600"/>
            <a:ext cx="10515600" cy="1463040"/>
          </a:xfrm>
          <a:prstGeom prst="rect">
            <a:avLst/>
          </a:prstGeom>
          <a:noFill/>
        </p:spPr>
        <p:txBody>
          <a:bodyPr wrap="square" anchor="t" lIns="0" rIns="0" tIns="0" bIns="0">
            <a:spAutoFit/>
          </a:bodyPr>
          <a:lstStyle/>
          <a:p>
            <a:pPr algn="l">
              <a:lnSpc>
                <a:spcPct val="95000"/>
              </a:lnSpc>
            </a:pPr>
            <a:r>
              <a:rPr sz="5400" b="1">
                <a:solidFill>
                  <a:srgbClr val="FFFFFF"/>
                </a:solidFill>
                <a:latin typeface="Arial"/>
              </a:rPr>
              <a:t>WELCOME TO
HPC OFFICE HOURS</a:t>
            </a:r>
          </a:p>
        </p:txBody>
      </p:sp>
      <p:sp>
        <p:nvSpPr>
          <p:cNvPr id="6" name="TextBox 5"/>
          <p:cNvSpPr txBox="1"/>
          <p:nvPr/>
        </p:nvSpPr>
        <p:spPr>
          <a:xfrm>
            <a:off x="1005840" y="4572000"/>
            <a:ext cx="10058400" cy="914400"/>
          </a:xfrm>
          <a:prstGeom prst="rect">
            <a:avLst/>
          </a:prstGeom>
          <a:noFill/>
        </p:spPr>
        <p:txBody>
          <a:bodyPr wrap="square" anchor="t" lIns="0" rIns="0" tIns="0" bIns="0">
            <a:spAutoFit/>
          </a:bodyPr>
          <a:lstStyle/>
          <a:p>
            <a:pPr algn="l">
              <a:lnSpc>
                <a:spcPct val="110000"/>
              </a:lnSpc>
            </a:pPr>
            <a:r>
              <a:rPr sz="2000" b="1">
                <a:solidFill>
                  <a:srgbClr val="FFFFFF"/>
                </a:solidFill>
                <a:latin typeface="Georgia"/>
              </a:rPr>
              <a:t>Dr. Ashley Scruse</a:t>
            </a:r>
            <a:r>
              <a:rPr sz="2000" b="0">
                <a:solidFill>
                  <a:srgbClr val="FFFFFF"/>
                </a:solidFill>
                <a:latin typeface="Georgia"/>
              </a:rPr>
              <a:t>  ·  Deputy Director, MSF</a:t>
            </a:r>
          </a:p>
          <a:p>
            <a:pPr algn="l">
              <a:lnSpc>
                <a:spcPct val="110000"/>
              </a:lnSpc>
            </a:pPr>
            <a:r>
              <a:rPr sz="2000" b="0">
                <a:solidFill>
                  <a:srgbClr val="FFFFFF"/>
                </a:solidFill>
                <a:latin typeface="Georgia"/>
              </a:rPr>
              <a:t>Tonight: getting you onto the supercomputer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anchor="t" lIns="0" rIns="0" tIns="0" bIns="0">
            <a:spAutoFit/>
          </a:bodyPr>
          <a:lstStyle/>
          <a:p>
            <a:pPr algn="l">
              <a:lnSpc>
                <a:spcPct val="110000"/>
              </a:lnSpc>
            </a:pPr>
            <a:r>
              <a:rPr sz="3400" b="1">
                <a:solidFill>
                  <a:srgbClr val="840028"/>
                </a:solidFill>
                <a:latin typeface="Arial"/>
              </a:rPr>
              <a:t>TONIGHT, WE DIP OUR TOES IN</a:t>
            </a:r>
          </a:p>
        </p:txBody>
      </p:sp>
      <p:sp>
        <p:nvSpPr>
          <p:cNvPr id="3" name="Rectangle 2"/>
          <p:cNvSpPr/>
          <p:nvPr/>
        </p:nvSpPr>
        <p:spPr>
          <a:xfrm>
            <a:off x="640080" y="1344168"/>
            <a:ext cx="1005840" cy="73152"/>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737360"/>
            <a:ext cx="3453384" cy="2103120"/>
          </a:xfrm>
          <a:prstGeom prst="rect">
            <a:avLst/>
          </a:prstGeom>
          <a:solidFill>
            <a:srgbClr val="F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37360"/>
            <a:ext cx="3453384" cy="73152"/>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914400" cy="640080"/>
          </a:xfrm>
          <a:prstGeom prst="rect">
            <a:avLst/>
          </a:prstGeom>
          <a:noFill/>
        </p:spPr>
        <p:txBody>
          <a:bodyPr wrap="square" anchor="t" lIns="0" rIns="0" tIns="0" bIns="0">
            <a:spAutoFit/>
          </a:bodyPr>
          <a:lstStyle/>
          <a:p>
            <a:pPr algn="l">
              <a:lnSpc>
                <a:spcPct val="110000"/>
              </a:lnSpc>
            </a:pPr>
            <a:r>
              <a:rPr sz="3000" b="1">
                <a:solidFill>
                  <a:srgbClr val="C1A231"/>
                </a:solidFill>
                <a:latin typeface="Arial"/>
              </a:rPr>
              <a:t>01</a:t>
            </a:r>
          </a:p>
        </p:txBody>
      </p:sp>
      <p:sp>
        <p:nvSpPr>
          <p:cNvPr id="7" name="TextBox 6"/>
          <p:cNvSpPr txBox="1"/>
          <p:nvPr/>
        </p:nvSpPr>
        <p:spPr>
          <a:xfrm>
            <a:off x="914400" y="2697480"/>
            <a:ext cx="2904744" cy="822960"/>
          </a:xfrm>
          <a:prstGeom prst="rect">
            <a:avLst/>
          </a:prstGeom>
          <a:noFill/>
        </p:spPr>
        <p:txBody>
          <a:bodyPr wrap="square" anchor="t" lIns="0" rIns="0" tIns="0" bIns="0">
            <a:spAutoFit/>
          </a:bodyPr>
          <a:lstStyle/>
          <a:p>
            <a:pPr algn="l">
              <a:lnSpc>
                <a:spcPct val="110000"/>
              </a:lnSpc>
            </a:pPr>
            <a:r>
              <a:rPr sz="2400" b="1">
                <a:solidFill>
                  <a:srgbClr val="840028"/>
                </a:solidFill>
                <a:latin typeface="Arial"/>
              </a:rPr>
              <a:t>Get access</a:t>
            </a:r>
          </a:p>
        </p:txBody>
      </p:sp>
      <p:sp>
        <p:nvSpPr>
          <p:cNvPr id="8" name="Rectangle 7"/>
          <p:cNvSpPr/>
          <p:nvPr/>
        </p:nvSpPr>
        <p:spPr>
          <a:xfrm>
            <a:off x="4367784" y="1737360"/>
            <a:ext cx="3453384" cy="2103120"/>
          </a:xfrm>
          <a:prstGeom prst="rect">
            <a:avLst/>
          </a:prstGeom>
          <a:solidFill>
            <a:srgbClr val="F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67784" y="1737360"/>
            <a:ext cx="3453384" cy="73152"/>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2104" y="2011680"/>
            <a:ext cx="914400" cy="640080"/>
          </a:xfrm>
          <a:prstGeom prst="rect">
            <a:avLst/>
          </a:prstGeom>
          <a:noFill/>
        </p:spPr>
        <p:txBody>
          <a:bodyPr wrap="square" anchor="t" lIns="0" rIns="0" tIns="0" bIns="0">
            <a:spAutoFit/>
          </a:bodyPr>
          <a:lstStyle/>
          <a:p>
            <a:pPr algn="l">
              <a:lnSpc>
                <a:spcPct val="110000"/>
              </a:lnSpc>
            </a:pPr>
            <a:r>
              <a:rPr sz="3000" b="1">
                <a:solidFill>
                  <a:srgbClr val="C1A231"/>
                </a:solidFill>
                <a:latin typeface="Arial"/>
              </a:rPr>
              <a:t>02</a:t>
            </a:r>
          </a:p>
        </p:txBody>
      </p:sp>
      <p:sp>
        <p:nvSpPr>
          <p:cNvPr id="11" name="TextBox 10"/>
          <p:cNvSpPr txBox="1"/>
          <p:nvPr/>
        </p:nvSpPr>
        <p:spPr>
          <a:xfrm>
            <a:off x="4642104" y="2697480"/>
            <a:ext cx="2904744" cy="822960"/>
          </a:xfrm>
          <a:prstGeom prst="rect">
            <a:avLst/>
          </a:prstGeom>
          <a:noFill/>
        </p:spPr>
        <p:txBody>
          <a:bodyPr wrap="square" anchor="t" lIns="0" rIns="0" tIns="0" bIns="0">
            <a:spAutoFit/>
          </a:bodyPr>
          <a:lstStyle/>
          <a:p>
            <a:pPr algn="l">
              <a:lnSpc>
                <a:spcPct val="110000"/>
              </a:lnSpc>
            </a:pPr>
            <a:r>
              <a:rPr sz="2400" b="1">
                <a:solidFill>
                  <a:srgbClr val="840028"/>
                </a:solidFill>
                <a:latin typeface="Arial"/>
              </a:rPr>
              <a:t>Finish onboarding</a:t>
            </a:r>
          </a:p>
        </p:txBody>
      </p:sp>
      <p:sp>
        <p:nvSpPr>
          <p:cNvPr id="12" name="Rectangle 11"/>
          <p:cNvSpPr/>
          <p:nvPr/>
        </p:nvSpPr>
        <p:spPr>
          <a:xfrm>
            <a:off x="8095488" y="1737360"/>
            <a:ext cx="3453384" cy="2103120"/>
          </a:xfrm>
          <a:prstGeom prst="rect">
            <a:avLst/>
          </a:prstGeom>
          <a:solidFill>
            <a:srgbClr val="F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95488" y="1737360"/>
            <a:ext cx="3453384" cy="73152"/>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2011680"/>
            <a:ext cx="914400" cy="640080"/>
          </a:xfrm>
          <a:prstGeom prst="rect">
            <a:avLst/>
          </a:prstGeom>
          <a:noFill/>
        </p:spPr>
        <p:txBody>
          <a:bodyPr wrap="square" anchor="t" lIns="0" rIns="0" tIns="0" bIns="0">
            <a:spAutoFit/>
          </a:bodyPr>
          <a:lstStyle/>
          <a:p>
            <a:pPr algn="l">
              <a:lnSpc>
                <a:spcPct val="110000"/>
              </a:lnSpc>
            </a:pPr>
            <a:r>
              <a:rPr sz="3000" b="1">
                <a:solidFill>
                  <a:srgbClr val="C1A231"/>
                </a:solidFill>
                <a:latin typeface="Arial"/>
              </a:rPr>
              <a:t>03</a:t>
            </a:r>
          </a:p>
        </p:txBody>
      </p:sp>
      <p:sp>
        <p:nvSpPr>
          <p:cNvPr id="15" name="TextBox 14"/>
          <p:cNvSpPr txBox="1"/>
          <p:nvPr/>
        </p:nvSpPr>
        <p:spPr>
          <a:xfrm>
            <a:off x="8369808" y="2697480"/>
            <a:ext cx="2904744" cy="822960"/>
          </a:xfrm>
          <a:prstGeom prst="rect">
            <a:avLst/>
          </a:prstGeom>
          <a:noFill/>
        </p:spPr>
        <p:txBody>
          <a:bodyPr wrap="square" anchor="t" lIns="0" rIns="0" tIns="0" bIns="0">
            <a:spAutoFit/>
          </a:bodyPr>
          <a:lstStyle/>
          <a:p>
            <a:pPr algn="l">
              <a:lnSpc>
                <a:spcPct val="110000"/>
              </a:lnSpc>
            </a:pPr>
            <a:r>
              <a:rPr sz="2400" b="1">
                <a:solidFill>
                  <a:srgbClr val="840028"/>
                </a:solidFill>
                <a:latin typeface="Arial"/>
              </a:rPr>
              <a:t>Explore the system</a:t>
            </a:r>
          </a:p>
        </p:txBody>
      </p:sp>
      <p:sp>
        <p:nvSpPr>
          <p:cNvPr id="16" name="Rectangle 15"/>
          <p:cNvSpPr/>
          <p:nvPr/>
        </p:nvSpPr>
        <p:spPr>
          <a:xfrm>
            <a:off x="640080" y="4160520"/>
            <a:ext cx="10908792" cy="868680"/>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4160520"/>
            <a:ext cx="109728" cy="868680"/>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160520"/>
            <a:ext cx="10332720" cy="868680"/>
          </a:xfrm>
          <a:prstGeom prst="rect">
            <a:avLst/>
          </a:prstGeom>
          <a:noFill/>
        </p:spPr>
        <p:txBody>
          <a:bodyPr wrap="square" anchor="ctr" lIns="0" rIns="0" tIns="0" bIns="0">
            <a:spAutoFit/>
          </a:bodyPr>
          <a:lstStyle/>
          <a:p>
            <a:pPr algn="l">
              <a:lnSpc>
                <a:spcPct val="110000"/>
              </a:lnSpc>
            </a:pPr>
            <a:r>
              <a:rPr sz="1600" b="1">
                <a:solidFill>
                  <a:srgbClr val="C1A231"/>
                </a:solidFill>
                <a:latin typeface="Arial"/>
              </a:rPr>
              <a:t>THE ONE REQUIREMENT  </a:t>
            </a:r>
            <a:r>
              <a:rPr sz="2000" b="0">
                <a:solidFill>
                  <a:srgbClr val="FFFFFF"/>
                </a:solidFill>
                <a:latin typeface="Georgia"/>
              </a:rPr>
              <a:t>Leave tonight with MFA set up and able to log in.</a:t>
            </a:r>
          </a:p>
        </p:txBody>
      </p:sp>
      <p:sp>
        <p:nvSpPr>
          <p:cNvPr id="19" name="TextBox 18"/>
          <p:cNvSpPr txBox="1"/>
          <p:nvPr/>
        </p:nvSpPr>
        <p:spPr>
          <a:xfrm>
            <a:off x="640080" y="5349240"/>
            <a:ext cx="10881360" cy="731520"/>
          </a:xfrm>
          <a:prstGeom prst="rect">
            <a:avLst/>
          </a:prstGeom>
          <a:noFill/>
        </p:spPr>
        <p:txBody>
          <a:bodyPr wrap="square" anchor="t" lIns="0" rIns="0" tIns="0" bIns="0">
            <a:spAutoFit/>
          </a:bodyPr>
          <a:lstStyle/>
          <a:p>
            <a:pPr algn="l">
              <a:lnSpc>
                <a:spcPct val="110000"/>
              </a:lnSpc>
            </a:pPr>
            <a:r>
              <a:rPr sz="1800" b="0">
                <a:solidFill>
                  <a:srgbClr val="4A4A4A"/>
                </a:solidFill>
                <a:latin typeface="Georgia"/>
              </a:rPr>
              <a:t>Everything else is optional. Follow along or just watch. No jobs, no code, nothing to memorize.</a:t>
            </a:r>
          </a:p>
        </p:txBody>
      </p:sp>
      <p:sp>
        <p:nvSpPr>
          <p:cNvPr id="20" name="TextBox 19"/>
          <p:cNvSpPr txBox="1"/>
          <p:nvPr/>
        </p:nvSpPr>
        <p:spPr>
          <a:xfrm>
            <a:off x="640080" y="6400800"/>
            <a:ext cx="7315200" cy="274320"/>
          </a:xfrm>
          <a:prstGeom prst="rect">
            <a:avLst/>
          </a:prstGeom>
          <a:noFill/>
        </p:spPr>
        <p:txBody>
          <a:bodyPr wrap="square" anchor="t" lIns="0" rIns="0" tIns="0" bIns="0">
            <a:spAutoFit/>
          </a:bodyPr>
          <a:lstStyle/>
          <a:p>
            <a:pPr algn="l">
              <a:lnSpc>
                <a:spcPct val="110000"/>
              </a:lnSpc>
            </a:pPr>
            <a:r>
              <a:rPr sz="1000" b="1">
                <a:solidFill>
                  <a:srgbClr val="A7A8AA"/>
                </a:solidFill>
                <a:latin typeface="Arial"/>
              </a:rPr>
              <a:t>MOREHOUSE SUPERCOMPUTING FACILITY  ·  HPC OFFICE HOURS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cruse-supercomputer.jpg"/>
          <p:cNvPicPr>
            <a:picLocks noChangeAspect="1"/>
          </p:cNvPicPr>
          <p:nvPr/>
        </p:nvPicPr>
        <p:blipFill>
          <a:blip r:embed="rId2"/>
          <a:srcRect l="6151" r="6151"/>
          <a:stretch>
            <a:fillRect/>
          </a:stretch>
        </p:blipFill>
        <p:spPr>
          <a:xfrm>
            <a:off x="7680960" y="0"/>
            <a:ext cx="4510735" cy="6858000"/>
          </a:xfrm>
          <a:prstGeom prst="rect">
            <a:avLst/>
          </a:prstGeom>
        </p:spPr>
      </p:pic>
      <p:sp>
        <p:nvSpPr>
          <p:cNvPr id="3" name="TextBox 2"/>
          <p:cNvSpPr txBox="1"/>
          <p:nvPr/>
        </p:nvSpPr>
        <p:spPr>
          <a:xfrm>
            <a:off x="640080" y="502920"/>
            <a:ext cx="6583680" cy="1737360"/>
          </a:xfrm>
          <a:prstGeom prst="rect">
            <a:avLst/>
          </a:prstGeom>
          <a:noFill/>
        </p:spPr>
        <p:txBody>
          <a:bodyPr wrap="square" anchor="t" lIns="0" rIns="0" tIns="0" bIns="0">
            <a:spAutoFit/>
          </a:bodyPr>
          <a:lstStyle/>
          <a:p>
            <a:pPr algn="l">
              <a:lnSpc>
                <a:spcPct val="110000"/>
              </a:lnSpc>
            </a:pPr>
            <a:r>
              <a:rPr sz="3400" b="1">
                <a:solidFill>
                  <a:srgbClr val="840028"/>
                </a:solidFill>
                <a:latin typeface="Arial"/>
              </a:rPr>
              <a:t>YOU NOW HAVE ACCESS TO A NATIONAL SUPERCOMPUTER</a:t>
            </a:r>
          </a:p>
        </p:txBody>
      </p:sp>
      <p:sp>
        <p:nvSpPr>
          <p:cNvPr id="4" name="Rectangle 3"/>
          <p:cNvSpPr/>
          <p:nvPr/>
        </p:nvSpPr>
        <p:spPr>
          <a:xfrm>
            <a:off x="640080" y="2286000"/>
            <a:ext cx="1005840" cy="73152"/>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743200"/>
            <a:ext cx="6492240" cy="3200400"/>
          </a:xfrm>
          <a:prstGeom prst="rect">
            <a:avLst/>
          </a:prstGeom>
          <a:noFill/>
        </p:spPr>
        <p:txBody>
          <a:bodyPr wrap="square" anchor="t" lIns="0" rIns="0" tIns="0" bIns="0">
            <a:spAutoFit/>
          </a:bodyPr>
          <a:lstStyle/>
          <a:p>
            <a:pPr algn="l">
              <a:lnSpc>
                <a:spcPct val="110000"/>
              </a:lnSpc>
            </a:pPr>
            <a:r>
              <a:rPr sz="2200" b="1">
                <a:solidFill>
                  <a:srgbClr val="000000"/>
                </a:solidFill>
                <a:latin typeface="Georgia"/>
              </a:rPr>
              <a:t>A national academic computing resource, </a:t>
            </a:r>
            <a:r>
              <a:rPr sz="2200" b="0">
                <a:solidFill>
                  <a:srgbClr val="000000"/>
                </a:solidFill>
                <a:latin typeface="Georgia"/>
              </a:rPr>
              <a:t>shared by researchers across the country</a:t>
            </a:r>
          </a:p>
          <a:p>
            <a:pPr algn="l">
              <a:lnSpc>
                <a:spcPct val="110000"/>
              </a:lnSpc>
            </a:pPr>
            <a:r>
              <a:rPr sz="2200" b="0">
                <a:solidFill>
                  <a:srgbClr val="000000"/>
                </a:solidFill>
                <a:latin typeface="Georgia"/>
              </a:rPr>
              <a:t/>
            </a:r>
          </a:p>
          <a:p>
            <a:pPr algn="l">
              <a:lnSpc>
                <a:spcPct val="110000"/>
              </a:lnSpc>
            </a:pPr>
            <a:r>
              <a:rPr sz="2200" b="0">
                <a:solidFill>
                  <a:srgbClr val="000000"/>
                </a:solidFill>
                <a:latin typeface="Georgia"/>
              </a:rPr>
              <a:t>Thousands of computers, called </a:t>
            </a:r>
            <a:r>
              <a:rPr sz="2200" b="1">
                <a:solidFill>
                  <a:srgbClr val="840028"/>
                </a:solidFill>
                <a:latin typeface="Georgia"/>
              </a:rPr>
              <a:t>nodes</a:t>
            </a:r>
            <a:r>
              <a:rPr sz="2200" b="0">
                <a:solidFill>
                  <a:srgbClr val="000000"/>
                </a:solidFill>
                <a:latin typeface="Georgia"/>
              </a:rPr>
              <a:t>, working together</a:t>
            </a:r>
          </a:p>
          <a:p>
            <a:pPr algn="l">
              <a:lnSpc>
                <a:spcPct val="110000"/>
              </a:lnSpc>
            </a:pPr>
            <a:r>
              <a:rPr sz="2200" b="0">
                <a:solidFill>
                  <a:srgbClr val="000000"/>
                </a:solidFill>
                <a:latin typeface="Georgia"/>
              </a:rPr>
              <a:t/>
            </a:r>
          </a:p>
          <a:p>
            <a:pPr algn="l">
              <a:lnSpc>
                <a:spcPct val="110000"/>
              </a:lnSpc>
            </a:pPr>
            <a:r>
              <a:rPr sz="2200" b="0">
                <a:solidFill>
                  <a:srgbClr val="000000"/>
                </a:solidFill>
                <a:latin typeface="Georgia"/>
              </a:rPr>
              <a:t>Built for work too big or too slow for a laptop</a:t>
            </a:r>
          </a:p>
        </p:txBody>
      </p:sp>
      <p:sp>
        <p:nvSpPr>
          <p:cNvPr id="6" name="TextBox 5"/>
          <p:cNvSpPr txBox="1"/>
          <p:nvPr/>
        </p:nvSpPr>
        <p:spPr>
          <a:xfrm>
            <a:off x="640080" y="6400800"/>
            <a:ext cx="7315200" cy="274320"/>
          </a:xfrm>
          <a:prstGeom prst="rect">
            <a:avLst/>
          </a:prstGeom>
          <a:noFill/>
        </p:spPr>
        <p:txBody>
          <a:bodyPr wrap="square" anchor="t" lIns="0" rIns="0" tIns="0" bIns="0">
            <a:spAutoFit/>
          </a:bodyPr>
          <a:lstStyle/>
          <a:p>
            <a:pPr algn="l">
              <a:lnSpc>
                <a:spcPct val="110000"/>
              </a:lnSpc>
            </a:pPr>
            <a:r>
              <a:rPr sz="1000" b="1">
                <a:solidFill>
                  <a:srgbClr val="A7A8AA"/>
                </a:solidFill>
                <a:latin typeface="Arial"/>
              </a:rPr>
              <a:t>MOREHOUSE SUPERCOMPUTING FACILITY  ·  HPC OFFICE HOURS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anchor="t" lIns="0" rIns="0" tIns="0" bIns="0">
            <a:spAutoFit/>
          </a:bodyPr>
          <a:lstStyle/>
          <a:p>
            <a:pPr algn="l">
              <a:lnSpc>
                <a:spcPct val="110000"/>
              </a:lnSpc>
            </a:pPr>
            <a:r>
              <a:rPr sz="3400" b="1">
                <a:solidFill>
                  <a:srgbClr val="840028"/>
                </a:solidFill>
                <a:latin typeface="Arial"/>
              </a:rPr>
              <a:t>ONE RESOURCE, SEVERAL SYSTEMS</a:t>
            </a:r>
          </a:p>
        </p:txBody>
      </p:sp>
      <p:sp>
        <p:nvSpPr>
          <p:cNvPr id="3" name="Rectangle 2"/>
          <p:cNvSpPr/>
          <p:nvPr/>
        </p:nvSpPr>
        <p:spPr>
          <a:xfrm>
            <a:off x="640080" y="1344168"/>
            <a:ext cx="1005840" cy="73152"/>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acks-aisle.jpg"/>
          <p:cNvPicPr>
            <a:picLocks noChangeAspect="1"/>
          </p:cNvPicPr>
          <p:nvPr/>
        </p:nvPicPr>
        <p:blipFill>
          <a:blip r:embed="rId2"/>
          <a:srcRect t="11531" b="26906"/>
          <a:stretch>
            <a:fillRect/>
          </a:stretch>
        </p:blipFill>
        <p:spPr>
          <a:xfrm>
            <a:off x="640080" y="1691640"/>
            <a:ext cx="3453384" cy="2834640"/>
          </a:xfrm>
          <a:prstGeom prst="rect">
            <a:avLst/>
          </a:prstGeom>
        </p:spPr>
      </p:pic>
      <p:sp>
        <p:nvSpPr>
          <p:cNvPr id="5" name="Rectangle 4"/>
          <p:cNvSpPr/>
          <p:nvPr/>
        </p:nvSpPr>
        <p:spPr>
          <a:xfrm>
            <a:off x="640080" y="4526280"/>
            <a:ext cx="3453384" cy="1097280"/>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645152"/>
            <a:ext cx="3453384" cy="457200"/>
          </a:xfrm>
          <a:prstGeom prst="rect">
            <a:avLst/>
          </a:prstGeom>
          <a:noFill/>
        </p:spPr>
        <p:txBody>
          <a:bodyPr wrap="square" anchor="t" lIns="0" rIns="0" tIns="0" bIns="0">
            <a:spAutoFit/>
          </a:bodyPr>
          <a:lstStyle/>
          <a:p>
            <a:pPr algn="l">
              <a:lnSpc>
                <a:spcPct val="110000"/>
              </a:lnSpc>
            </a:pPr>
            <a:r>
              <a:rPr sz="2400" b="1">
                <a:solidFill>
                  <a:srgbClr val="FFFFFF"/>
                </a:solidFill>
                <a:latin typeface="Arial"/>
              </a:rPr>
              <a:t>VISTA</a:t>
            </a:r>
          </a:p>
        </p:txBody>
      </p:sp>
      <p:sp>
        <p:nvSpPr>
          <p:cNvPr id="7" name="TextBox 6"/>
          <p:cNvSpPr txBox="1"/>
          <p:nvPr/>
        </p:nvSpPr>
        <p:spPr>
          <a:xfrm>
            <a:off x="914400" y="5120640"/>
            <a:ext cx="3453384" cy="365760"/>
          </a:xfrm>
          <a:prstGeom prst="rect">
            <a:avLst/>
          </a:prstGeom>
          <a:noFill/>
        </p:spPr>
        <p:txBody>
          <a:bodyPr wrap="square" anchor="t" lIns="0" rIns="0" tIns="0" bIns="0">
            <a:spAutoFit/>
          </a:bodyPr>
          <a:lstStyle/>
          <a:p>
            <a:pPr algn="l">
              <a:lnSpc>
                <a:spcPct val="110000"/>
              </a:lnSpc>
            </a:pPr>
            <a:r>
              <a:rPr sz="1600" b="1">
                <a:solidFill>
                  <a:srgbClr val="C1A231"/>
                </a:solidFill>
                <a:latin typeface="Georgia"/>
              </a:rPr>
              <a:t>Our focus tonight</a:t>
            </a:r>
          </a:p>
        </p:txBody>
      </p:sp>
      <p:pic>
        <p:nvPicPr>
          <p:cNvPr id="8" name="Picture 7" descr="stampede.jpg"/>
          <p:cNvPicPr>
            <a:picLocks noChangeAspect="1"/>
          </p:cNvPicPr>
          <p:nvPr/>
        </p:nvPicPr>
        <p:blipFill>
          <a:blip r:embed="rId3"/>
          <a:srcRect t="11531" b="26906"/>
          <a:stretch>
            <a:fillRect/>
          </a:stretch>
        </p:blipFill>
        <p:spPr>
          <a:xfrm>
            <a:off x="4367784" y="1691640"/>
            <a:ext cx="3453384" cy="2834640"/>
          </a:xfrm>
          <a:prstGeom prst="rect">
            <a:avLst/>
          </a:prstGeom>
        </p:spPr>
      </p:pic>
      <p:sp>
        <p:nvSpPr>
          <p:cNvPr id="9" name="Rectangle 8"/>
          <p:cNvSpPr/>
          <p:nvPr/>
        </p:nvSpPr>
        <p:spPr>
          <a:xfrm>
            <a:off x="4367784" y="4526280"/>
            <a:ext cx="3453384" cy="1097280"/>
          </a:xfrm>
          <a:prstGeom prst="rect">
            <a:avLst/>
          </a:prstGeom>
          <a:solidFill>
            <a:srgbClr val="F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2104" y="4645152"/>
            <a:ext cx="3453384" cy="457200"/>
          </a:xfrm>
          <a:prstGeom prst="rect">
            <a:avLst/>
          </a:prstGeom>
          <a:noFill/>
        </p:spPr>
        <p:txBody>
          <a:bodyPr wrap="square" anchor="t" lIns="0" rIns="0" tIns="0" bIns="0">
            <a:spAutoFit/>
          </a:bodyPr>
          <a:lstStyle/>
          <a:p>
            <a:pPr algn="l">
              <a:lnSpc>
                <a:spcPct val="110000"/>
              </a:lnSpc>
            </a:pPr>
            <a:r>
              <a:rPr sz="2400" b="1">
                <a:solidFill>
                  <a:srgbClr val="840028"/>
                </a:solidFill>
                <a:latin typeface="Arial"/>
              </a:rPr>
              <a:t>STAMPEDE3</a:t>
            </a:r>
          </a:p>
        </p:txBody>
      </p:sp>
      <p:sp>
        <p:nvSpPr>
          <p:cNvPr id="11" name="TextBox 10"/>
          <p:cNvSpPr txBox="1"/>
          <p:nvPr/>
        </p:nvSpPr>
        <p:spPr>
          <a:xfrm>
            <a:off x="4642104" y="5120640"/>
            <a:ext cx="3453384" cy="365760"/>
          </a:xfrm>
          <a:prstGeom prst="rect">
            <a:avLst/>
          </a:prstGeom>
          <a:noFill/>
        </p:spPr>
        <p:txBody>
          <a:bodyPr wrap="square" anchor="t" lIns="0" rIns="0" tIns="0" bIns="0">
            <a:spAutoFit/>
          </a:bodyPr>
          <a:lstStyle/>
          <a:p>
            <a:pPr algn="l">
              <a:lnSpc>
                <a:spcPct val="110000"/>
              </a:lnSpc>
            </a:pPr>
            <a:r>
              <a:rPr sz="1600" b="0">
                <a:solidFill>
                  <a:srgbClr val="4A4A4A"/>
                </a:solidFill>
                <a:latin typeface="Georgia"/>
              </a:rPr>
              <a:t>Also available to you</a:t>
            </a:r>
          </a:p>
        </p:txBody>
      </p:sp>
      <p:pic>
        <p:nvPicPr>
          <p:cNvPr id="12" name="Picture 11" descr="racks-close.jpg"/>
          <p:cNvPicPr>
            <a:picLocks noChangeAspect="1"/>
          </p:cNvPicPr>
          <p:nvPr/>
        </p:nvPicPr>
        <p:blipFill>
          <a:blip r:embed="rId4"/>
          <a:srcRect t="11531" b="26906"/>
          <a:stretch>
            <a:fillRect/>
          </a:stretch>
        </p:blipFill>
        <p:spPr>
          <a:xfrm>
            <a:off x="8095488" y="1691640"/>
            <a:ext cx="3453384" cy="2834640"/>
          </a:xfrm>
          <a:prstGeom prst="rect">
            <a:avLst/>
          </a:prstGeom>
        </p:spPr>
      </p:pic>
      <p:sp>
        <p:nvSpPr>
          <p:cNvPr id="13" name="Rectangle 12"/>
          <p:cNvSpPr/>
          <p:nvPr/>
        </p:nvSpPr>
        <p:spPr>
          <a:xfrm>
            <a:off x="8095488" y="4526280"/>
            <a:ext cx="3453384" cy="1097280"/>
          </a:xfrm>
          <a:prstGeom prst="rect">
            <a:avLst/>
          </a:prstGeom>
          <a:solidFill>
            <a:srgbClr val="F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4645152"/>
            <a:ext cx="3453384" cy="457200"/>
          </a:xfrm>
          <a:prstGeom prst="rect">
            <a:avLst/>
          </a:prstGeom>
          <a:noFill/>
        </p:spPr>
        <p:txBody>
          <a:bodyPr wrap="square" anchor="t" lIns="0" rIns="0" tIns="0" bIns="0">
            <a:spAutoFit/>
          </a:bodyPr>
          <a:lstStyle/>
          <a:p>
            <a:pPr algn="l">
              <a:lnSpc>
                <a:spcPct val="110000"/>
              </a:lnSpc>
            </a:pPr>
            <a:r>
              <a:rPr sz="2400" b="1">
                <a:solidFill>
                  <a:srgbClr val="840028"/>
                </a:solidFill>
                <a:latin typeface="Arial"/>
              </a:rPr>
              <a:t>FRONTERA</a:t>
            </a:r>
          </a:p>
        </p:txBody>
      </p:sp>
      <p:sp>
        <p:nvSpPr>
          <p:cNvPr id="15" name="TextBox 14"/>
          <p:cNvSpPr txBox="1"/>
          <p:nvPr/>
        </p:nvSpPr>
        <p:spPr>
          <a:xfrm>
            <a:off x="8369808" y="5120640"/>
            <a:ext cx="3453384" cy="365760"/>
          </a:xfrm>
          <a:prstGeom prst="rect">
            <a:avLst/>
          </a:prstGeom>
          <a:noFill/>
        </p:spPr>
        <p:txBody>
          <a:bodyPr wrap="square" anchor="t" lIns="0" rIns="0" tIns="0" bIns="0">
            <a:spAutoFit/>
          </a:bodyPr>
          <a:lstStyle/>
          <a:p>
            <a:pPr algn="l">
              <a:lnSpc>
                <a:spcPct val="110000"/>
              </a:lnSpc>
            </a:pPr>
            <a:r>
              <a:rPr sz="1600" b="0">
                <a:solidFill>
                  <a:srgbClr val="4A4A4A"/>
                </a:solidFill>
                <a:latin typeface="Georgia"/>
              </a:rPr>
              <a:t>Also available to you</a:t>
            </a:r>
          </a:p>
        </p:txBody>
      </p:sp>
      <p:sp>
        <p:nvSpPr>
          <p:cNvPr id="16" name="TextBox 15"/>
          <p:cNvSpPr txBox="1"/>
          <p:nvPr/>
        </p:nvSpPr>
        <p:spPr>
          <a:xfrm>
            <a:off x="640080" y="5806440"/>
            <a:ext cx="10881360" cy="457200"/>
          </a:xfrm>
          <a:prstGeom prst="rect">
            <a:avLst/>
          </a:prstGeom>
          <a:noFill/>
        </p:spPr>
        <p:txBody>
          <a:bodyPr wrap="square" anchor="t" lIns="0" rIns="0" tIns="0" bIns="0">
            <a:spAutoFit/>
          </a:bodyPr>
          <a:lstStyle/>
          <a:p>
            <a:pPr algn="l">
              <a:lnSpc>
                <a:spcPct val="110000"/>
              </a:lnSpc>
            </a:pPr>
            <a:r>
              <a:rPr sz="1800" b="0">
                <a:solidFill>
                  <a:srgbClr val="4A4A4A"/>
                </a:solidFill>
                <a:latin typeface="Georgia"/>
              </a:rPr>
              <a:t>Same account, same login. Each system is built for different kinds of work.</a:t>
            </a:r>
          </a:p>
        </p:txBody>
      </p:sp>
      <p:sp>
        <p:nvSpPr>
          <p:cNvPr id="17" name="TextBox 16"/>
          <p:cNvSpPr txBox="1"/>
          <p:nvPr/>
        </p:nvSpPr>
        <p:spPr>
          <a:xfrm>
            <a:off x="640080" y="6400800"/>
            <a:ext cx="7315200" cy="274320"/>
          </a:xfrm>
          <a:prstGeom prst="rect">
            <a:avLst/>
          </a:prstGeom>
          <a:noFill/>
        </p:spPr>
        <p:txBody>
          <a:bodyPr wrap="square" anchor="t" lIns="0" rIns="0" tIns="0" bIns="0">
            <a:spAutoFit/>
          </a:bodyPr>
          <a:lstStyle/>
          <a:p>
            <a:pPr algn="l">
              <a:lnSpc>
                <a:spcPct val="110000"/>
              </a:lnSpc>
            </a:pPr>
            <a:r>
              <a:rPr sz="1000" b="1">
                <a:solidFill>
                  <a:srgbClr val="A7A8AA"/>
                </a:solidFill>
                <a:latin typeface="Arial"/>
              </a:rPr>
              <a:t>MOREHOUSE SUPERCOMPUTING FACILITY  ·  HPC OFFICE HOURS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anchor="t" lIns="0" rIns="0" tIns="0" bIns="0">
            <a:spAutoFit/>
          </a:bodyPr>
          <a:lstStyle/>
          <a:p>
            <a:pPr algn="l">
              <a:lnSpc>
                <a:spcPct val="110000"/>
              </a:lnSpc>
            </a:pPr>
            <a:r>
              <a:rPr sz="3400" b="1">
                <a:solidFill>
                  <a:srgbClr val="840028"/>
                </a:solidFill>
                <a:latin typeface="Arial"/>
              </a:rPr>
              <a:t>WHEN DO YOU NEED IT?</a:t>
            </a:r>
          </a:p>
        </p:txBody>
      </p:sp>
      <p:sp>
        <p:nvSpPr>
          <p:cNvPr id="3" name="Rectangle 2"/>
          <p:cNvSpPr/>
          <p:nvPr/>
        </p:nvSpPr>
        <p:spPr>
          <a:xfrm>
            <a:off x="640080" y="1344168"/>
            <a:ext cx="1005840" cy="73152"/>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737360"/>
            <a:ext cx="2521458" cy="2926080"/>
          </a:xfrm>
          <a:prstGeom prst="rect">
            <a:avLst/>
          </a:prstGeom>
          <a:solidFill>
            <a:srgbClr val="F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37360"/>
            <a:ext cx="2521458" cy="73152"/>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914400" cy="640080"/>
          </a:xfrm>
          <a:prstGeom prst="rect">
            <a:avLst/>
          </a:prstGeom>
          <a:noFill/>
        </p:spPr>
        <p:txBody>
          <a:bodyPr wrap="square" anchor="t" lIns="0" rIns="0" tIns="0" bIns="0">
            <a:spAutoFit/>
          </a:bodyPr>
          <a:lstStyle/>
          <a:p>
            <a:pPr algn="l">
              <a:lnSpc>
                <a:spcPct val="110000"/>
              </a:lnSpc>
            </a:pPr>
            <a:r>
              <a:rPr sz="3000" b="1">
                <a:solidFill>
                  <a:srgbClr val="C1A231"/>
                </a:solidFill>
                <a:latin typeface="Arial"/>
              </a:rPr>
              <a:t>01</a:t>
            </a:r>
          </a:p>
        </p:txBody>
      </p:sp>
      <p:sp>
        <p:nvSpPr>
          <p:cNvPr id="7" name="TextBox 6"/>
          <p:cNvSpPr txBox="1"/>
          <p:nvPr/>
        </p:nvSpPr>
        <p:spPr>
          <a:xfrm>
            <a:off x="914400" y="2697480"/>
            <a:ext cx="1972818" cy="822960"/>
          </a:xfrm>
          <a:prstGeom prst="rect">
            <a:avLst/>
          </a:prstGeom>
          <a:noFill/>
        </p:spPr>
        <p:txBody>
          <a:bodyPr wrap="square" anchor="t" lIns="0" rIns="0" tIns="0" bIns="0">
            <a:spAutoFit/>
          </a:bodyPr>
          <a:lstStyle/>
          <a:p>
            <a:pPr algn="l">
              <a:lnSpc>
                <a:spcPct val="110000"/>
              </a:lnSpc>
            </a:pPr>
            <a:r>
              <a:rPr sz="2200" b="1">
                <a:solidFill>
                  <a:srgbClr val="840028"/>
                </a:solidFill>
                <a:latin typeface="Arial"/>
              </a:rPr>
              <a:t>Too big</a:t>
            </a:r>
          </a:p>
        </p:txBody>
      </p:sp>
      <p:sp>
        <p:nvSpPr>
          <p:cNvPr id="8" name="TextBox 7"/>
          <p:cNvSpPr txBox="1"/>
          <p:nvPr/>
        </p:nvSpPr>
        <p:spPr>
          <a:xfrm>
            <a:off x="914400" y="3383280"/>
            <a:ext cx="1972818" cy="1143000"/>
          </a:xfrm>
          <a:prstGeom prst="rect">
            <a:avLst/>
          </a:prstGeom>
          <a:noFill/>
        </p:spPr>
        <p:txBody>
          <a:bodyPr wrap="square" anchor="t" lIns="0" rIns="0" tIns="0" bIns="0">
            <a:spAutoFit/>
          </a:bodyPr>
          <a:lstStyle/>
          <a:p>
            <a:pPr algn="l">
              <a:lnSpc>
                <a:spcPct val="110000"/>
              </a:lnSpc>
            </a:pPr>
            <a:r>
              <a:rPr sz="1600" b="0">
                <a:solidFill>
                  <a:srgbClr val="4A4A4A"/>
                </a:solidFill>
                <a:latin typeface="Georgia"/>
              </a:rPr>
              <a:t>Your data is too big to open on a laptop</a:t>
            </a:r>
          </a:p>
        </p:txBody>
      </p:sp>
      <p:sp>
        <p:nvSpPr>
          <p:cNvPr id="9" name="Rectangle 8"/>
          <p:cNvSpPr/>
          <p:nvPr/>
        </p:nvSpPr>
        <p:spPr>
          <a:xfrm>
            <a:off x="3435858" y="1737360"/>
            <a:ext cx="2521458" cy="2926080"/>
          </a:xfrm>
          <a:prstGeom prst="rect">
            <a:avLst/>
          </a:prstGeom>
          <a:solidFill>
            <a:srgbClr val="F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35858" y="1737360"/>
            <a:ext cx="2521458" cy="73152"/>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8" y="2011680"/>
            <a:ext cx="914400" cy="640080"/>
          </a:xfrm>
          <a:prstGeom prst="rect">
            <a:avLst/>
          </a:prstGeom>
          <a:noFill/>
        </p:spPr>
        <p:txBody>
          <a:bodyPr wrap="square" anchor="t" lIns="0" rIns="0" tIns="0" bIns="0">
            <a:spAutoFit/>
          </a:bodyPr>
          <a:lstStyle/>
          <a:p>
            <a:pPr algn="l">
              <a:lnSpc>
                <a:spcPct val="110000"/>
              </a:lnSpc>
            </a:pPr>
            <a:r>
              <a:rPr sz="3000" b="1">
                <a:solidFill>
                  <a:srgbClr val="C1A231"/>
                </a:solidFill>
                <a:latin typeface="Arial"/>
              </a:rPr>
              <a:t>02</a:t>
            </a:r>
          </a:p>
        </p:txBody>
      </p:sp>
      <p:sp>
        <p:nvSpPr>
          <p:cNvPr id="12" name="TextBox 11"/>
          <p:cNvSpPr txBox="1"/>
          <p:nvPr/>
        </p:nvSpPr>
        <p:spPr>
          <a:xfrm>
            <a:off x="3710178" y="2697480"/>
            <a:ext cx="1972818" cy="822960"/>
          </a:xfrm>
          <a:prstGeom prst="rect">
            <a:avLst/>
          </a:prstGeom>
          <a:noFill/>
        </p:spPr>
        <p:txBody>
          <a:bodyPr wrap="square" anchor="t" lIns="0" rIns="0" tIns="0" bIns="0">
            <a:spAutoFit/>
          </a:bodyPr>
          <a:lstStyle/>
          <a:p>
            <a:pPr algn="l">
              <a:lnSpc>
                <a:spcPct val="110000"/>
              </a:lnSpc>
            </a:pPr>
            <a:r>
              <a:rPr sz="2200" b="1">
                <a:solidFill>
                  <a:srgbClr val="840028"/>
                </a:solidFill>
                <a:latin typeface="Arial"/>
              </a:rPr>
              <a:t>Too slow</a:t>
            </a:r>
          </a:p>
        </p:txBody>
      </p:sp>
      <p:sp>
        <p:nvSpPr>
          <p:cNvPr id="13" name="TextBox 12"/>
          <p:cNvSpPr txBox="1"/>
          <p:nvPr/>
        </p:nvSpPr>
        <p:spPr>
          <a:xfrm>
            <a:off x="3710178" y="3383280"/>
            <a:ext cx="1972818" cy="1143000"/>
          </a:xfrm>
          <a:prstGeom prst="rect">
            <a:avLst/>
          </a:prstGeom>
          <a:noFill/>
        </p:spPr>
        <p:txBody>
          <a:bodyPr wrap="square" anchor="t" lIns="0" rIns="0" tIns="0" bIns="0">
            <a:spAutoFit/>
          </a:bodyPr>
          <a:lstStyle/>
          <a:p>
            <a:pPr algn="l">
              <a:lnSpc>
                <a:spcPct val="110000"/>
              </a:lnSpc>
            </a:pPr>
            <a:r>
              <a:rPr sz="1600" b="0">
                <a:solidFill>
                  <a:srgbClr val="4A4A4A"/>
                </a:solidFill>
                <a:latin typeface="Georgia"/>
              </a:rPr>
              <a:t>Your analysis takes hours or days to run</a:t>
            </a:r>
          </a:p>
        </p:txBody>
      </p:sp>
      <p:sp>
        <p:nvSpPr>
          <p:cNvPr id="14" name="Rectangle 13"/>
          <p:cNvSpPr/>
          <p:nvPr/>
        </p:nvSpPr>
        <p:spPr>
          <a:xfrm>
            <a:off x="6231636" y="1737360"/>
            <a:ext cx="2521458" cy="2926080"/>
          </a:xfrm>
          <a:prstGeom prst="rect">
            <a:avLst/>
          </a:prstGeom>
          <a:solidFill>
            <a:srgbClr val="F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1636" y="1737360"/>
            <a:ext cx="2521458" cy="73152"/>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05956" y="2011680"/>
            <a:ext cx="914400" cy="640080"/>
          </a:xfrm>
          <a:prstGeom prst="rect">
            <a:avLst/>
          </a:prstGeom>
          <a:noFill/>
        </p:spPr>
        <p:txBody>
          <a:bodyPr wrap="square" anchor="t" lIns="0" rIns="0" tIns="0" bIns="0">
            <a:spAutoFit/>
          </a:bodyPr>
          <a:lstStyle/>
          <a:p>
            <a:pPr algn="l">
              <a:lnSpc>
                <a:spcPct val="110000"/>
              </a:lnSpc>
            </a:pPr>
            <a:r>
              <a:rPr sz="3000" b="1">
                <a:solidFill>
                  <a:srgbClr val="C1A231"/>
                </a:solidFill>
                <a:latin typeface="Arial"/>
              </a:rPr>
              <a:t>03</a:t>
            </a:r>
          </a:p>
        </p:txBody>
      </p:sp>
      <p:sp>
        <p:nvSpPr>
          <p:cNvPr id="17" name="TextBox 16"/>
          <p:cNvSpPr txBox="1"/>
          <p:nvPr/>
        </p:nvSpPr>
        <p:spPr>
          <a:xfrm>
            <a:off x="6505956" y="2697480"/>
            <a:ext cx="1972818" cy="822960"/>
          </a:xfrm>
          <a:prstGeom prst="rect">
            <a:avLst/>
          </a:prstGeom>
          <a:noFill/>
        </p:spPr>
        <p:txBody>
          <a:bodyPr wrap="square" anchor="t" lIns="0" rIns="0" tIns="0" bIns="0">
            <a:spAutoFit/>
          </a:bodyPr>
          <a:lstStyle/>
          <a:p>
            <a:pPr algn="l">
              <a:lnSpc>
                <a:spcPct val="110000"/>
              </a:lnSpc>
            </a:pPr>
            <a:r>
              <a:rPr sz="2200" b="1">
                <a:solidFill>
                  <a:srgbClr val="840028"/>
                </a:solidFill>
                <a:latin typeface="Arial"/>
              </a:rPr>
              <a:t>Too many</a:t>
            </a:r>
          </a:p>
        </p:txBody>
      </p:sp>
      <p:sp>
        <p:nvSpPr>
          <p:cNvPr id="18" name="TextBox 17"/>
          <p:cNvSpPr txBox="1"/>
          <p:nvPr/>
        </p:nvSpPr>
        <p:spPr>
          <a:xfrm>
            <a:off x="6505956" y="3383280"/>
            <a:ext cx="1972818" cy="1143000"/>
          </a:xfrm>
          <a:prstGeom prst="rect">
            <a:avLst/>
          </a:prstGeom>
          <a:noFill/>
        </p:spPr>
        <p:txBody>
          <a:bodyPr wrap="square" anchor="t" lIns="0" rIns="0" tIns="0" bIns="0">
            <a:spAutoFit/>
          </a:bodyPr>
          <a:lstStyle/>
          <a:p>
            <a:pPr algn="l">
              <a:lnSpc>
                <a:spcPct val="110000"/>
              </a:lnSpc>
            </a:pPr>
            <a:r>
              <a:rPr sz="1600" b="0">
                <a:solidFill>
                  <a:srgbClr val="4A4A4A"/>
                </a:solidFill>
                <a:latin typeface="Georgia"/>
              </a:rPr>
              <a:t>You need to run the same thing many times</a:t>
            </a:r>
          </a:p>
        </p:txBody>
      </p:sp>
      <p:sp>
        <p:nvSpPr>
          <p:cNvPr id="19" name="Rectangle 18"/>
          <p:cNvSpPr/>
          <p:nvPr/>
        </p:nvSpPr>
        <p:spPr>
          <a:xfrm>
            <a:off x="9027414" y="1737360"/>
            <a:ext cx="2521458" cy="2926080"/>
          </a:xfrm>
          <a:prstGeom prst="rect">
            <a:avLst/>
          </a:prstGeom>
          <a:solidFill>
            <a:srgbClr val="F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27414" y="1737360"/>
            <a:ext cx="2521458" cy="73152"/>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01734" y="2011680"/>
            <a:ext cx="914400" cy="640080"/>
          </a:xfrm>
          <a:prstGeom prst="rect">
            <a:avLst/>
          </a:prstGeom>
          <a:noFill/>
        </p:spPr>
        <p:txBody>
          <a:bodyPr wrap="square" anchor="t" lIns="0" rIns="0" tIns="0" bIns="0">
            <a:spAutoFit/>
          </a:bodyPr>
          <a:lstStyle/>
          <a:p>
            <a:pPr algn="l">
              <a:lnSpc>
                <a:spcPct val="110000"/>
              </a:lnSpc>
            </a:pPr>
            <a:r>
              <a:rPr sz="3000" b="1">
                <a:solidFill>
                  <a:srgbClr val="C1A231"/>
                </a:solidFill>
                <a:latin typeface="Arial"/>
              </a:rPr>
              <a:t>04</a:t>
            </a:r>
          </a:p>
        </p:txBody>
      </p:sp>
      <p:sp>
        <p:nvSpPr>
          <p:cNvPr id="22" name="TextBox 21"/>
          <p:cNvSpPr txBox="1"/>
          <p:nvPr/>
        </p:nvSpPr>
        <p:spPr>
          <a:xfrm>
            <a:off x="9301734" y="2697480"/>
            <a:ext cx="1972818" cy="822960"/>
          </a:xfrm>
          <a:prstGeom prst="rect">
            <a:avLst/>
          </a:prstGeom>
          <a:noFill/>
        </p:spPr>
        <p:txBody>
          <a:bodyPr wrap="square" anchor="t" lIns="0" rIns="0" tIns="0" bIns="0">
            <a:spAutoFit/>
          </a:bodyPr>
          <a:lstStyle/>
          <a:p>
            <a:pPr algn="l">
              <a:lnSpc>
                <a:spcPct val="110000"/>
              </a:lnSpc>
            </a:pPr>
            <a:r>
              <a:rPr sz="2200" b="1">
                <a:solidFill>
                  <a:srgbClr val="840028"/>
                </a:solidFill>
                <a:latin typeface="Arial"/>
              </a:rPr>
              <a:t>Build skills</a:t>
            </a:r>
          </a:p>
        </p:txBody>
      </p:sp>
      <p:sp>
        <p:nvSpPr>
          <p:cNvPr id="23" name="TextBox 22"/>
          <p:cNvSpPr txBox="1"/>
          <p:nvPr/>
        </p:nvSpPr>
        <p:spPr>
          <a:xfrm>
            <a:off x="9301734" y="3383280"/>
            <a:ext cx="1972818" cy="1143000"/>
          </a:xfrm>
          <a:prstGeom prst="rect">
            <a:avLst/>
          </a:prstGeom>
          <a:noFill/>
        </p:spPr>
        <p:txBody>
          <a:bodyPr wrap="square" anchor="t" lIns="0" rIns="0" tIns="0" bIns="0">
            <a:spAutoFit/>
          </a:bodyPr>
          <a:lstStyle/>
          <a:p>
            <a:pPr algn="l">
              <a:lnSpc>
                <a:spcPct val="110000"/>
              </a:lnSpc>
            </a:pPr>
            <a:r>
              <a:rPr sz="1600" b="0">
                <a:solidFill>
                  <a:srgbClr val="4A4A4A"/>
                </a:solidFill>
                <a:latin typeface="Georgia"/>
              </a:rPr>
              <a:t>Linux, shared computing, and the tools research runs on</a:t>
            </a:r>
          </a:p>
        </p:txBody>
      </p:sp>
      <p:sp>
        <p:nvSpPr>
          <p:cNvPr id="24" name="Rectangle 23"/>
          <p:cNvSpPr/>
          <p:nvPr/>
        </p:nvSpPr>
        <p:spPr>
          <a:xfrm>
            <a:off x="640080" y="4983480"/>
            <a:ext cx="10908792" cy="868680"/>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4983480"/>
            <a:ext cx="109728" cy="868680"/>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4983480"/>
            <a:ext cx="10332720" cy="868680"/>
          </a:xfrm>
          <a:prstGeom prst="rect">
            <a:avLst/>
          </a:prstGeom>
          <a:noFill/>
        </p:spPr>
        <p:txBody>
          <a:bodyPr wrap="square" anchor="ctr" lIns="0" rIns="0" tIns="0" bIns="0">
            <a:spAutoFit/>
          </a:bodyPr>
          <a:lstStyle/>
          <a:p>
            <a:pPr algn="l">
              <a:lnSpc>
                <a:spcPct val="110000"/>
              </a:lnSpc>
            </a:pPr>
            <a:r>
              <a:rPr sz="1600" b="1">
                <a:solidFill>
                  <a:srgbClr val="C1A231"/>
                </a:solidFill>
                <a:latin typeface="Arial"/>
              </a:rPr>
              <a:t>GOOD NEWS  </a:t>
            </a:r>
            <a:r>
              <a:rPr sz="2000" b="0">
                <a:solidFill>
                  <a:srgbClr val="FFFFFF"/>
                </a:solidFill>
                <a:latin typeface="Georgia"/>
              </a:rPr>
              <a:t>Your project doesn't have to need a supercomputer. Learning how to use one counts.</a:t>
            </a:r>
          </a:p>
        </p:txBody>
      </p:sp>
      <p:sp>
        <p:nvSpPr>
          <p:cNvPr id="27" name="TextBox 26"/>
          <p:cNvSpPr txBox="1"/>
          <p:nvPr/>
        </p:nvSpPr>
        <p:spPr>
          <a:xfrm>
            <a:off x="640080" y="6400800"/>
            <a:ext cx="7315200" cy="274320"/>
          </a:xfrm>
          <a:prstGeom prst="rect">
            <a:avLst/>
          </a:prstGeom>
          <a:noFill/>
        </p:spPr>
        <p:txBody>
          <a:bodyPr wrap="square" anchor="t" lIns="0" rIns="0" tIns="0" bIns="0">
            <a:spAutoFit/>
          </a:bodyPr>
          <a:lstStyle/>
          <a:p>
            <a:pPr algn="l">
              <a:lnSpc>
                <a:spcPct val="110000"/>
              </a:lnSpc>
            </a:pPr>
            <a:r>
              <a:rPr sz="1000" b="1">
                <a:solidFill>
                  <a:srgbClr val="A7A8AA"/>
                </a:solidFill>
                <a:latin typeface="Arial"/>
              </a:rPr>
              <a:t>MOREHOUSE SUPERCOMPUTING FACILITY  ·  HPC OFFICE HOURS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840028"/>
        </a:solidFill>
        <a:effectLst/>
      </p:bgPr>
    </p:bg>
    <p:spTree>
      <p:nvGrpSpPr>
        <p:cNvPr id="1" name=""/>
        <p:cNvGrpSpPr/>
        <p:nvPr/>
      </p:nvGrpSpPr>
      <p:grpSpPr/>
      <p:pic>
        <p:nvPicPr>
          <p:cNvPr id="2" name="Picture 1" descr="racks-close.jpg"/>
          <p:cNvPicPr>
            <a:picLocks noChangeAspect="1"/>
          </p:cNvPicPr>
          <p:nvPr/>
        </p:nvPicPr>
        <p:blipFill>
          <a:blip r:embed="rId2"/>
          <a:srcRect l="6151" r="6151"/>
          <a:stretch>
            <a:fillRect/>
          </a:stretch>
        </p:blipFill>
        <p:spPr>
          <a:xfrm>
            <a:off x="7680960" y="0"/>
            <a:ext cx="4510735" cy="6858000"/>
          </a:xfrm>
          <a:prstGeom prst="rect">
            <a:avLst/>
          </a:prstGeom>
        </p:spPr>
      </p:pic>
      <p:sp>
        <p:nvSpPr>
          <p:cNvPr id="3" name="Rectangle 2"/>
          <p:cNvSpPr/>
          <p:nvPr/>
        </p:nvSpPr>
        <p:spPr>
          <a:xfrm>
            <a:off x="640080" y="2377440"/>
            <a:ext cx="109728" cy="1920240"/>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240280"/>
            <a:ext cx="6400800" cy="457200"/>
          </a:xfrm>
          <a:prstGeom prst="rect">
            <a:avLst/>
          </a:prstGeom>
          <a:noFill/>
        </p:spPr>
        <p:txBody>
          <a:bodyPr wrap="square" anchor="t" lIns="0" rIns="0" tIns="0" bIns="0">
            <a:spAutoFit/>
          </a:bodyPr>
          <a:lstStyle/>
          <a:p>
            <a:pPr algn="l">
              <a:lnSpc>
                <a:spcPct val="110000"/>
              </a:lnSpc>
            </a:pPr>
            <a:r>
              <a:rPr sz="1600" b="1">
                <a:solidFill>
                  <a:srgbClr val="C1A231"/>
                </a:solidFill>
                <a:latin typeface="Arial"/>
              </a:rPr>
              <a:t>SECTION</a:t>
            </a:r>
          </a:p>
        </p:txBody>
      </p:sp>
      <p:sp>
        <p:nvSpPr>
          <p:cNvPr id="5" name="TextBox 4"/>
          <p:cNvSpPr txBox="1"/>
          <p:nvPr/>
        </p:nvSpPr>
        <p:spPr>
          <a:xfrm>
            <a:off x="1005840" y="2697480"/>
            <a:ext cx="6400800" cy="914400"/>
          </a:xfrm>
          <a:prstGeom prst="rect">
            <a:avLst/>
          </a:prstGeom>
          <a:noFill/>
        </p:spPr>
        <p:txBody>
          <a:bodyPr wrap="square" anchor="t" lIns="0" rIns="0" tIns="0" bIns="0">
            <a:spAutoFit/>
          </a:bodyPr>
          <a:lstStyle/>
          <a:p>
            <a:pPr algn="l">
              <a:lnSpc>
                <a:spcPct val="110000"/>
              </a:lnSpc>
            </a:pPr>
            <a:r>
              <a:rPr sz="5000" b="1">
                <a:solidFill>
                  <a:srgbClr val="FFFFFF"/>
                </a:solidFill>
                <a:latin typeface="Arial"/>
              </a:rPr>
              <a:t>A SHARED SYSTEM</a:t>
            </a:r>
          </a:p>
        </p:txBody>
      </p:sp>
      <p:sp>
        <p:nvSpPr>
          <p:cNvPr id="6" name="TextBox 5"/>
          <p:cNvSpPr txBox="1"/>
          <p:nvPr/>
        </p:nvSpPr>
        <p:spPr>
          <a:xfrm>
            <a:off x="1005840" y="3657600"/>
            <a:ext cx="6217920" cy="1097280"/>
          </a:xfrm>
          <a:prstGeom prst="rect">
            <a:avLst/>
          </a:prstGeom>
          <a:noFill/>
        </p:spPr>
        <p:txBody>
          <a:bodyPr wrap="square" anchor="t" lIns="0" rIns="0" tIns="0" bIns="0">
            <a:spAutoFit/>
          </a:bodyPr>
          <a:lstStyle/>
          <a:p>
            <a:pPr algn="l">
              <a:lnSpc>
                <a:spcPct val="110000"/>
              </a:lnSpc>
            </a:pPr>
            <a:r>
              <a:rPr sz="2000" b="0">
                <a:solidFill>
                  <a:srgbClr val="FFFFFF"/>
                </a:solidFill>
                <a:latin typeface="Georgia"/>
              </a:rPr>
              <a:t>You share this machine with researchers around the world. Shared systems come with rules.</a:t>
            </a:r>
          </a:p>
        </p:txBody>
      </p:sp>
      <p:sp>
        <p:nvSpPr>
          <p:cNvPr id="7" name="TextBox 6"/>
          <p:cNvSpPr txBox="1"/>
          <p:nvPr/>
        </p:nvSpPr>
        <p:spPr>
          <a:xfrm>
            <a:off x="640080" y="6400800"/>
            <a:ext cx="7315200" cy="274320"/>
          </a:xfrm>
          <a:prstGeom prst="rect">
            <a:avLst/>
          </a:prstGeom>
          <a:noFill/>
        </p:spPr>
        <p:txBody>
          <a:bodyPr wrap="square" anchor="t" lIns="0" rIns="0" tIns="0" bIns="0">
            <a:spAutoFit/>
          </a:bodyPr>
          <a:lstStyle/>
          <a:p>
            <a:pPr algn="l">
              <a:lnSpc>
                <a:spcPct val="110000"/>
              </a:lnSpc>
            </a:pPr>
            <a:r>
              <a:rPr sz="1000" b="1">
                <a:solidFill>
                  <a:srgbClr val="D8B8C2"/>
                </a:solidFill>
                <a:latin typeface="Arial"/>
              </a:rPr>
              <a:t>MOREHOUSE SUPERCOMPUTING FACILITY  ·  HPC OFFICE HOURS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anchor="t" lIns="0" rIns="0" tIns="0" bIns="0">
            <a:spAutoFit/>
          </a:bodyPr>
          <a:lstStyle/>
          <a:p>
            <a:pPr algn="l">
              <a:lnSpc>
                <a:spcPct val="110000"/>
              </a:lnSpc>
            </a:pPr>
            <a:r>
              <a:rPr sz="3400" b="1">
                <a:solidFill>
                  <a:srgbClr val="840028"/>
                </a:solidFill>
                <a:latin typeface="Arial"/>
              </a:rPr>
              <a:t>NODE VS. CORE</a:t>
            </a:r>
          </a:p>
        </p:txBody>
      </p:sp>
      <p:sp>
        <p:nvSpPr>
          <p:cNvPr id="3" name="Rectangle 2"/>
          <p:cNvSpPr/>
          <p:nvPr/>
        </p:nvSpPr>
        <p:spPr>
          <a:xfrm>
            <a:off x="640080" y="1344168"/>
            <a:ext cx="1005840" cy="73152"/>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737360"/>
            <a:ext cx="3453384" cy="2926080"/>
          </a:xfrm>
          <a:prstGeom prst="rect">
            <a:avLst/>
          </a:prstGeom>
          <a:solidFill>
            <a:srgbClr val="F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65960"/>
            <a:ext cx="2904744" cy="457200"/>
          </a:xfrm>
          <a:prstGeom prst="rect">
            <a:avLst/>
          </a:prstGeom>
          <a:noFill/>
        </p:spPr>
        <p:txBody>
          <a:bodyPr wrap="square" anchor="t" lIns="0" rIns="0" tIns="0" bIns="0">
            <a:spAutoFit/>
          </a:bodyPr>
          <a:lstStyle/>
          <a:p>
            <a:pPr algn="l">
              <a:lnSpc>
                <a:spcPct val="110000"/>
              </a:lnSpc>
            </a:pPr>
            <a:r>
              <a:rPr sz="2200" b="1">
                <a:solidFill>
                  <a:srgbClr val="840028"/>
                </a:solidFill>
                <a:latin typeface="Arial"/>
              </a:rPr>
              <a:t>CORE</a:t>
            </a:r>
          </a:p>
        </p:txBody>
      </p:sp>
      <p:sp>
        <p:nvSpPr>
          <p:cNvPr id="6" name="TextBox 5"/>
          <p:cNvSpPr txBox="1"/>
          <p:nvPr/>
        </p:nvSpPr>
        <p:spPr>
          <a:xfrm>
            <a:off x="914400" y="2468880"/>
            <a:ext cx="2904744" cy="731520"/>
          </a:xfrm>
          <a:prstGeom prst="rect">
            <a:avLst/>
          </a:prstGeom>
          <a:noFill/>
        </p:spPr>
        <p:txBody>
          <a:bodyPr wrap="square" anchor="t" lIns="0" rIns="0" tIns="0" bIns="0">
            <a:spAutoFit/>
          </a:bodyPr>
          <a:lstStyle/>
          <a:p>
            <a:pPr algn="l">
              <a:lnSpc>
                <a:spcPct val="110000"/>
              </a:lnSpc>
            </a:pPr>
            <a:r>
              <a:rPr sz="1700" b="0">
                <a:solidFill>
                  <a:srgbClr val="4A4A4A"/>
                </a:solidFill>
                <a:latin typeface="Georgia"/>
              </a:rPr>
              <a:t>One worker inside a processor</a:t>
            </a:r>
          </a:p>
        </p:txBody>
      </p:sp>
      <p:sp>
        <p:nvSpPr>
          <p:cNvPr id="7" name="TextBox 6"/>
          <p:cNvSpPr txBox="1"/>
          <p:nvPr/>
        </p:nvSpPr>
        <p:spPr>
          <a:xfrm>
            <a:off x="914400" y="3200400"/>
            <a:ext cx="2904744" cy="822960"/>
          </a:xfrm>
          <a:prstGeom prst="rect">
            <a:avLst/>
          </a:prstGeom>
          <a:noFill/>
        </p:spPr>
        <p:txBody>
          <a:bodyPr wrap="square" anchor="t" lIns="0" rIns="0" tIns="0" bIns="0">
            <a:spAutoFit/>
          </a:bodyPr>
          <a:lstStyle/>
          <a:p>
            <a:pPr algn="l">
              <a:lnSpc>
                <a:spcPct val="110000"/>
              </a:lnSpc>
            </a:pPr>
            <a:r>
              <a:rPr sz="4800" b="1">
                <a:solidFill>
                  <a:srgbClr val="C1A231"/>
                </a:solidFill>
                <a:latin typeface="Arial"/>
              </a:rPr>
              <a:t>1</a:t>
            </a:r>
          </a:p>
        </p:txBody>
      </p:sp>
      <p:sp>
        <p:nvSpPr>
          <p:cNvPr id="8" name="TextBox 7"/>
          <p:cNvSpPr txBox="1"/>
          <p:nvPr/>
        </p:nvSpPr>
        <p:spPr>
          <a:xfrm>
            <a:off x="914400" y="4069080"/>
            <a:ext cx="2904744" cy="457200"/>
          </a:xfrm>
          <a:prstGeom prst="rect">
            <a:avLst/>
          </a:prstGeom>
          <a:noFill/>
        </p:spPr>
        <p:txBody>
          <a:bodyPr wrap="square" anchor="t" lIns="0" rIns="0" tIns="0" bIns="0">
            <a:spAutoFit/>
          </a:bodyPr>
          <a:lstStyle/>
          <a:p>
            <a:pPr algn="l">
              <a:lnSpc>
                <a:spcPct val="110000"/>
              </a:lnSpc>
            </a:pPr>
            <a:r>
              <a:rPr sz="1500" b="0">
                <a:solidFill>
                  <a:srgbClr val="4A4A4A"/>
                </a:solidFill>
                <a:latin typeface="Georgia"/>
              </a:rPr>
              <a:t>worker</a:t>
            </a:r>
          </a:p>
        </p:txBody>
      </p:sp>
      <p:sp>
        <p:nvSpPr>
          <p:cNvPr id="9" name="TextBox 8"/>
          <p:cNvSpPr txBox="1"/>
          <p:nvPr/>
        </p:nvSpPr>
        <p:spPr>
          <a:xfrm>
            <a:off x="4093464" y="2926080"/>
            <a:ext cx="274320" cy="548640"/>
          </a:xfrm>
          <a:prstGeom prst="rect">
            <a:avLst/>
          </a:prstGeom>
          <a:noFill/>
        </p:spPr>
        <p:txBody>
          <a:bodyPr wrap="square" anchor="t" lIns="0" rIns="0" tIns="0" bIns="0">
            <a:spAutoFit/>
          </a:bodyPr>
          <a:lstStyle/>
          <a:p>
            <a:pPr algn="ctr">
              <a:lnSpc>
                <a:spcPct val="110000"/>
              </a:lnSpc>
            </a:pPr>
            <a:r>
              <a:rPr sz="3000" b="1">
                <a:solidFill>
                  <a:srgbClr val="C1A231"/>
                </a:solidFill>
                <a:latin typeface="Arial"/>
              </a:rPr>
              <a:t>›</a:t>
            </a:r>
          </a:p>
        </p:txBody>
      </p:sp>
      <p:sp>
        <p:nvSpPr>
          <p:cNvPr id="10" name="Rectangle 9"/>
          <p:cNvSpPr/>
          <p:nvPr/>
        </p:nvSpPr>
        <p:spPr>
          <a:xfrm>
            <a:off x="4367784" y="1737360"/>
            <a:ext cx="3453384" cy="2926080"/>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1965960"/>
            <a:ext cx="2904744" cy="457200"/>
          </a:xfrm>
          <a:prstGeom prst="rect">
            <a:avLst/>
          </a:prstGeom>
          <a:noFill/>
        </p:spPr>
        <p:txBody>
          <a:bodyPr wrap="square" anchor="t" lIns="0" rIns="0" tIns="0" bIns="0">
            <a:spAutoFit/>
          </a:bodyPr>
          <a:lstStyle/>
          <a:p>
            <a:pPr algn="l">
              <a:lnSpc>
                <a:spcPct val="110000"/>
              </a:lnSpc>
            </a:pPr>
            <a:r>
              <a:rPr sz="2200" b="1">
                <a:solidFill>
                  <a:srgbClr val="FFFFFF"/>
                </a:solidFill>
                <a:latin typeface="Arial"/>
              </a:rPr>
              <a:t>NODE</a:t>
            </a:r>
          </a:p>
        </p:txBody>
      </p:sp>
      <p:sp>
        <p:nvSpPr>
          <p:cNvPr id="12" name="TextBox 11"/>
          <p:cNvSpPr txBox="1"/>
          <p:nvPr/>
        </p:nvSpPr>
        <p:spPr>
          <a:xfrm>
            <a:off x="4642104" y="2468880"/>
            <a:ext cx="2904744" cy="731520"/>
          </a:xfrm>
          <a:prstGeom prst="rect">
            <a:avLst/>
          </a:prstGeom>
          <a:noFill/>
        </p:spPr>
        <p:txBody>
          <a:bodyPr wrap="square" anchor="t" lIns="0" rIns="0" tIns="0" bIns="0">
            <a:spAutoFit/>
          </a:bodyPr>
          <a:lstStyle/>
          <a:p>
            <a:pPr algn="l">
              <a:lnSpc>
                <a:spcPct val="110000"/>
              </a:lnSpc>
            </a:pPr>
            <a:r>
              <a:rPr sz="1700" b="0">
                <a:solidFill>
                  <a:srgbClr val="FFFFFF"/>
                </a:solidFill>
                <a:latin typeface="Georgia"/>
              </a:rPr>
              <a:t>One whole computer, full of cores</a:t>
            </a:r>
          </a:p>
        </p:txBody>
      </p:sp>
      <p:sp>
        <p:nvSpPr>
          <p:cNvPr id="13" name="TextBox 12"/>
          <p:cNvSpPr txBox="1"/>
          <p:nvPr/>
        </p:nvSpPr>
        <p:spPr>
          <a:xfrm>
            <a:off x="4642104" y="3200400"/>
            <a:ext cx="2904744" cy="822960"/>
          </a:xfrm>
          <a:prstGeom prst="rect">
            <a:avLst/>
          </a:prstGeom>
          <a:noFill/>
        </p:spPr>
        <p:txBody>
          <a:bodyPr wrap="square" anchor="t" lIns="0" rIns="0" tIns="0" bIns="0">
            <a:spAutoFit/>
          </a:bodyPr>
          <a:lstStyle/>
          <a:p>
            <a:pPr algn="l">
              <a:lnSpc>
                <a:spcPct val="110000"/>
              </a:lnSpc>
            </a:pPr>
            <a:r>
              <a:rPr sz="4800" b="1">
                <a:solidFill>
                  <a:srgbClr val="C1A231"/>
                </a:solidFill>
                <a:latin typeface="Arial"/>
              </a:rPr>
              <a:t>144</a:t>
            </a:r>
          </a:p>
        </p:txBody>
      </p:sp>
      <p:sp>
        <p:nvSpPr>
          <p:cNvPr id="14" name="TextBox 13"/>
          <p:cNvSpPr txBox="1"/>
          <p:nvPr/>
        </p:nvSpPr>
        <p:spPr>
          <a:xfrm>
            <a:off x="4642104" y="4069080"/>
            <a:ext cx="2904744" cy="457200"/>
          </a:xfrm>
          <a:prstGeom prst="rect">
            <a:avLst/>
          </a:prstGeom>
          <a:noFill/>
        </p:spPr>
        <p:txBody>
          <a:bodyPr wrap="square" anchor="t" lIns="0" rIns="0" tIns="0" bIns="0">
            <a:spAutoFit/>
          </a:bodyPr>
          <a:lstStyle/>
          <a:p>
            <a:pPr algn="l">
              <a:lnSpc>
                <a:spcPct val="110000"/>
              </a:lnSpc>
            </a:pPr>
            <a:r>
              <a:rPr sz="1500" b="0">
                <a:solidFill>
                  <a:srgbClr val="C1A231"/>
                </a:solidFill>
                <a:latin typeface="Georgia"/>
              </a:rPr>
              <a:t>cores per CPU node (72 per GPU node)</a:t>
            </a:r>
          </a:p>
        </p:txBody>
      </p:sp>
      <p:sp>
        <p:nvSpPr>
          <p:cNvPr id="15" name="TextBox 14"/>
          <p:cNvSpPr txBox="1"/>
          <p:nvPr/>
        </p:nvSpPr>
        <p:spPr>
          <a:xfrm>
            <a:off x="7821168" y="2926080"/>
            <a:ext cx="274320" cy="548640"/>
          </a:xfrm>
          <a:prstGeom prst="rect">
            <a:avLst/>
          </a:prstGeom>
          <a:noFill/>
        </p:spPr>
        <p:txBody>
          <a:bodyPr wrap="square" anchor="t" lIns="0" rIns="0" tIns="0" bIns="0">
            <a:spAutoFit/>
          </a:bodyPr>
          <a:lstStyle/>
          <a:p>
            <a:pPr algn="ctr">
              <a:lnSpc>
                <a:spcPct val="110000"/>
              </a:lnSpc>
            </a:pPr>
            <a:r>
              <a:rPr sz="3000" b="1">
                <a:solidFill>
                  <a:srgbClr val="C1A231"/>
                </a:solidFill>
                <a:latin typeface="Arial"/>
              </a:rPr>
              <a:t>›</a:t>
            </a:r>
          </a:p>
        </p:txBody>
      </p:sp>
      <p:sp>
        <p:nvSpPr>
          <p:cNvPr id="16" name="Rectangle 15"/>
          <p:cNvSpPr/>
          <p:nvPr/>
        </p:nvSpPr>
        <p:spPr>
          <a:xfrm>
            <a:off x="8095488" y="1737360"/>
            <a:ext cx="3453384" cy="2926080"/>
          </a:xfrm>
          <a:prstGeom prst="rect">
            <a:avLst/>
          </a:prstGeom>
          <a:solidFill>
            <a:srgbClr val="F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9808" y="1965960"/>
            <a:ext cx="2904744" cy="457200"/>
          </a:xfrm>
          <a:prstGeom prst="rect">
            <a:avLst/>
          </a:prstGeom>
          <a:noFill/>
        </p:spPr>
        <p:txBody>
          <a:bodyPr wrap="square" anchor="t" lIns="0" rIns="0" tIns="0" bIns="0">
            <a:spAutoFit/>
          </a:bodyPr>
          <a:lstStyle/>
          <a:p>
            <a:pPr algn="l">
              <a:lnSpc>
                <a:spcPct val="110000"/>
              </a:lnSpc>
            </a:pPr>
            <a:r>
              <a:rPr sz="2200" b="1">
                <a:solidFill>
                  <a:srgbClr val="840028"/>
                </a:solidFill>
                <a:latin typeface="Arial"/>
              </a:rPr>
              <a:t>VISTA</a:t>
            </a:r>
          </a:p>
        </p:txBody>
      </p:sp>
      <p:sp>
        <p:nvSpPr>
          <p:cNvPr id="18" name="TextBox 17"/>
          <p:cNvSpPr txBox="1"/>
          <p:nvPr/>
        </p:nvSpPr>
        <p:spPr>
          <a:xfrm>
            <a:off x="8369808" y="2468880"/>
            <a:ext cx="2904744" cy="731520"/>
          </a:xfrm>
          <a:prstGeom prst="rect">
            <a:avLst/>
          </a:prstGeom>
          <a:noFill/>
        </p:spPr>
        <p:txBody>
          <a:bodyPr wrap="square" anchor="t" lIns="0" rIns="0" tIns="0" bIns="0">
            <a:spAutoFit/>
          </a:bodyPr>
          <a:lstStyle/>
          <a:p>
            <a:pPr algn="l">
              <a:lnSpc>
                <a:spcPct val="110000"/>
              </a:lnSpc>
            </a:pPr>
            <a:r>
              <a:rPr sz="1700" b="0">
                <a:solidFill>
                  <a:srgbClr val="4A4A4A"/>
                </a:solidFill>
                <a:latin typeface="Georgia"/>
              </a:rPr>
              <a:t>All the nodes wired together</a:t>
            </a:r>
          </a:p>
        </p:txBody>
      </p:sp>
      <p:sp>
        <p:nvSpPr>
          <p:cNvPr id="19" name="TextBox 18"/>
          <p:cNvSpPr txBox="1"/>
          <p:nvPr/>
        </p:nvSpPr>
        <p:spPr>
          <a:xfrm>
            <a:off x="8369808" y="3200400"/>
            <a:ext cx="2904744" cy="822960"/>
          </a:xfrm>
          <a:prstGeom prst="rect">
            <a:avLst/>
          </a:prstGeom>
          <a:noFill/>
        </p:spPr>
        <p:txBody>
          <a:bodyPr wrap="square" anchor="t" lIns="0" rIns="0" tIns="0" bIns="0">
            <a:spAutoFit/>
          </a:bodyPr>
          <a:lstStyle/>
          <a:p>
            <a:pPr algn="l">
              <a:lnSpc>
                <a:spcPct val="110000"/>
              </a:lnSpc>
            </a:pPr>
            <a:r>
              <a:rPr sz="4800" b="1">
                <a:solidFill>
                  <a:srgbClr val="C1A231"/>
                </a:solidFill>
                <a:latin typeface="Arial"/>
              </a:rPr>
              <a:t>856</a:t>
            </a:r>
          </a:p>
        </p:txBody>
      </p:sp>
      <p:sp>
        <p:nvSpPr>
          <p:cNvPr id="20" name="TextBox 19"/>
          <p:cNvSpPr txBox="1"/>
          <p:nvPr/>
        </p:nvSpPr>
        <p:spPr>
          <a:xfrm>
            <a:off x="8369808" y="4069080"/>
            <a:ext cx="2904744" cy="457200"/>
          </a:xfrm>
          <a:prstGeom prst="rect">
            <a:avLst/>
          </a:prstGeom>
          <a:noFill/>
        </p:spPr>
        <p:txBody>
          <a:bodyPr wrap="square" anchor="t" lIns="0" rIns="0" tIns="0" bIns="0">
            <a:spAutoFit/>
          </a:bodyPr>
          <a:lstStyle/>
          <a:p>
            <a:pPr algn="l">
              <a:lnSpc>
                <a:spcPct val="110000"/>
              </a:lnSpc>
            </a:pPr>
            <a:r>
              <a:rPr sz="1500" b="0">
                <a:solidFill>
                  <a:srgbClr val="4A4A4A"/>
                </a:solidFill>
                <a:latin typeface="Georgia"/>
              </a:rPr>
              <a:t>nodes: 256 CPU + 600 GPU</a:t>
            </a:r>
          </a:p>
        </p:txBody>
      </p:sp>
      <p:sp>
        <p:nvSpPr>
          <p:cNvPr id="21" name="Rectangle 20"/>
          <p:cNvSpPr/>
          <p:nvPr/>
        </p:nvSpPr>
        <p:spPr>
          <a:xfrm>
            <a:off x="640080" y="4983480"/>
            <a:ext cx="10908792" cy="868680"/>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4983480"/>
            <a:ext cx="109728" cy="868680"/>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983480"/>
            <a:ext cx="10332720" cy="868680"/>
          </a:xfrm>
          <a:prstGeom prst="rect">
            <a:avLst/>
          </a:prstGeom>
          <a:noFill/>
        </p:spPr>
        <p:txBody>
          <a:bodyPr wrap="square" anchor="ctr" lIns="0" rIns="0" tIns="0" bIns="0">
            <a:spAutoFit/>
          </a:bodyPr>
          <a:lstStyle/>
          <a:p>
            <a:pPr algn="l">
              <a:lnSpc>
                <a:spcPct val="110000"/>
              </a:lnSpc>
            </a:pPr>
            <a:r>
              <a:rPr sz="1600" b="1">
                <a:solidFill>
                  <a:srgbClr val="C1A231"/>
                </a:solidFill>
                <a:latin typeface="Arial"/>
              </a:rPr>
              <a:t>VISTA IN TOTAL  </a:t>
            </a:r>
            <a:r>
              <a:rPr sz="2000" b="0">
                <a:solidFill>
                  <a:srgbClr val="FFFFFF"/>
                </a:solidFill>
                <a:latin typeface="Georgia"/>
              </a:rPr>
              <a:t>856 nodes and 80,064 cores working together.</a:t>
            </a:r>
          </a:p>
        </p:txBody>
      </p:sp>
      <p:sp>
        <p:nvSpPr>
          <p:cNvPr id="24" name="TextBox 23"/>
          <p:cNvSpPr txBox="1"/>
          <p:nvPr/>
        </p:nvSpPr>
        <p:spPr>
          <a:xfrm>
            <a:off x="640080" y="6400800"/>
            <a:ext cx="7315200" cy="274320"/>
          </a:xfrm>
          <a:prstGeom prst="rect">
            <a:avLst/>
          </a:prstGeom>
          <a:noFill/>
        </p:spPr>
        <p:txBody>
          <a:bodyPr wrap="square" anchor="t" lIns="0" rIns="0" tIns="0" bIns="0">
            <a:spAutoFit/>
          </a:bodyPr>
          <a:lstStyle/>
          <a:p>
            <a:pPr algn="l">
              <a:lnSpc>
                <a:spcPct val="110000"/>
              </a:lnSpc>
            </a:pPr>
            <a:r>
              <a:rPr sz="1000" b="1">
                <a:solidFill>
                  <a:srgbClr val="A7A8AA"/>
                </a:solidFill>
                <a:latin typeface="Arial"/>
              </a:rPr>
              <a:t>MOREHOUSE SUPERCOMPUTING FACILITY  ·  HPC OFFICE HOURS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anchor="t" lIns="0" rIns="0" tIns="0" bIns="0">
            <a:spAutoFit/>
          </a:bodyPr>
          <a:lstStyle/>
          <a:p>
            <a:pPr algn="l">
              <a:lnSpc>
                <a:spcPct val="110000"/>
              </a:lnSpc>
            </a:pPr>
            <a:r>
              <a:rPr sz="3400" b="1">
                <a:solidFill>
                  <a:srgbClr val="840028"/>
                </a:solidFill>
                <a:latin typeface="Arial"/>
              </a:rPr>
              <a:t>LOGIN NODES VS. COMPUTE NODES</a:t>
            </a:r>
          </a:p>
        </p:txBody>
      </p:sp>
      <p:sp>
        <p:nvSpPr>
          <p:cNvPr id="3" name="Rectangle 2"/>
          <p:cNvSpPr/>
          <p:nvPr/>
        </p:nvSpPr>
        <p:spPr>
          <a:xfrm>
            <a:off x="640080" y="1344168"/>
            <a:ext cx="1005840" cy="73152"/>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691640"/>
            <a:ext cx="5394960" cy="685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5394960" cy="685800"/>
          </a:xfrm>
          <a:prstGeom prst="rect">
            <a:avLst/>
          </a:prstGeom>
          <a:noFill/>
        </p:spPr>
        <p:txBody>
          <a:bodyPr wrap="square" anchor="ctr" lIns="0" rIns="0" tIns="0" bIns="0">
            <a:spAutoFit/>
          </a:bodyPr>
          <a:lstStyle/>
          <a:p>
            <a:pPr algn="ctr">
              <a:lnSpc>
                <a:spcPct val="110000"/>
              </a:lnSpc>
            </a:pPr>
            <a:r>
              <a:rPr sz="2200" b="1">
                <a:solidFill>
                  <a:srgbClr val="FFFFFF"/>
                </a:solidFill>
                <a:latin typeface="Arial"/>
              </a:rPr>
              <a:t>LOGIN NODE</a:t>
            </a:r>
          </a:p>
        </p:txBody>
      </p:sp>
      <p:sp>
        <p:nvSpPr>
          <p:cNvPr id="6" name="Rectangle 5"/>
          <p:cNvSpPr/>
          <p:nvPr/>
        </p:nvSpPr>
        <p:spPr>
          <a:xfrm>
            <a:off x="640080" y="2377440"/>
            <a:ext cx="5394960" cy="713232"/>
          </a:xfrm>
          <a:prstGeom prst="rect">
            <a:avLst/>
          </a:prstGeom>
          <a:solidFill>
            <a:srgbClr val="F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377440"/>
            <a:ext cx="5394960" cy="713232"/>
          </a:xfrm>
          <a:prstGeom prst="rect">
            <a:avLst/>
          </a:prstGeom>
          <a:noFill/>
        </p:spPr>
        <p:txBody>
          <a:bodyPr wrap="square" anchor="ctr" lIns="0" rIns="0" tIns="0" bIns="0">
            <a:spAutoFit/>
          </a:bodyPr>
          <a:lstStyle/>
          <a:p>
            <a:pPr algn="ctr">
              <a:lnSpc>
                <a:spcPct val="110000"/>
              </a:lnSpc>
            </a:pPr>
            <a:r>
              <a:rPr sz="1900" b="0">
                <a:solidFill>
                  <a:srgbClr val="000000"/>
                </a:solidFill>
                <a:latin typeface="Georgia"/>
              </a:rPr>
              <a:t>Where you land when you log in</a:t>
            </a:r>
          </a:p>
        </p:txBody>
      </p:sp>
      <p:sp>
        <p:nvSpPr>
          <p:cNvPr id="8" name="Rectangle 7"/>
          <p:cNvSpPr/>
          <p:nvPr/>
        </p:nvSpPr>
        <p:spPr>
          <a:xfrm>
            <a:off x="640080" y="3090672"/>
            <a:ext cx="539496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90672"/>
            <a:ext cx="5394960" cy="713232"/>
          </a:xfrm>
          <a:prstGeom prst="rect">
            <a:avLst/>
          </a:prstGeom>
          <a:noFill/>
        </p:spPr>
        <p:txBody>
          <a:bodyPr wrap="square" anchor="ctr" lIns="0" rIns="0" tIns="0" bIns="0">
            <a:spAutoFit/>
          </a:bodyPr>
          <a:lstStyle/>
          <a:p>
            <a:pPr algn="ctr">
              <a:lnSpc>
                <a:spcPct val="110000"/>
              </a:lnSpc>
            </a:pPr>
            <a:r>
              <a:rPr sz="1900" b="0">
                <a:solidFill>
                  <a:srgbClr val="000000"/>
                </a:solidFill>
                <a:latin typeface="Georgia"/>
              </a:rPr>
              <a:t>Shared by everyone at once</a:t>
            </a:r>
          </a:p>
        </p:txBody>
      </p:sp>
      <p:sp>
        <p:nvSpPr>
          <p:cNvPr id="10" name="Rectangle 9"/>
          <p:cNvSpPr/>
          <p:nvPr/>
        </p:nvSpPr>
        <p:spPr>
          <a:xfrm>
            <a:off x="640080" y="3803904"/>
            <a:ext cx="5394960" cy="713232"/>
          </a:xfrm>
          <a:prstGeom prst="rect">
            <a:avLst/>
          </a:prstGeom>
          <a:solidFill>
            <a:srgbClr val="F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803904"/>
            <a:ext cx="5394960" cy="713232"/>
          </a:xfrm>
          <a:prstGeom prst="rect">
            <a:avLst/>
          </a:prstGeom>
          <a:noFill/>
        </p:spPr>
        <p:txBody>
          <a:bodyPr wrap="square" anchor="ctr" lIns="0" rIns="0" tIns="0" bIns="0">
            <a:spAutoFit/>
          </a:bodyPr>
          <a:lstStyle/>
          <a:p>
            <a:pPr algn="ctr">
              <a:lnSpc>
                <a:spcPct val="110000"/>
              </a:lnSpc>
            </a:pPr>
            <a:r>
              <a:rPr sz="1900" b="0">
                <a:solidFill>
                  <a:srgbClr val="000000"/>
                </a:solidFill>
                <a:latin typeface="Georgia"/>
              </a:rPr>
              <a:t>Organize files, edit, submit</a:t>
            </a:r>
          </a:p>
        </p:txBody>
      </p:sp>
      <p:sp>
        <p:nvSpPr>
          <p:cNvPr id="12" name="Rectangle 11"/>
          <p:cNvSpPr/>
          <p:nvPr/>
        </p:nvSpPr>
        <p:spPr>
          <a:xfrm>
            <a:off x="6153912" y="1691640"/>
            <a:ext cx="5394960" cy="685800"/>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53912" y="1691640"/>
            <a:ext cx="5394960" cy="685800"/>
          </a:xfrm>
          <a:prstGeom prst="rect">
            <a:avLst/>
          </a:prstGeom>
          <a:noFill/>
        </p:spPr>
        <p:txBody>
          <a:bodyPr wrap="square" anchor="ctr" lIns="0" rIns="0" tIns="0" bIns="0">
            <a:spAutoFit/>
          </a:bodyPr>
          <a:lstStyle/>
          <a:p>
            <a:pPr algn="ctr">
              <a:lnSpc>
                <a:spcPct val="110000"/>
              </a:lnSpc>
            </a:pPr>
            <a:r>
              <a:rPr sz="2200" b="1">
                <a:solidFill>
                  <a:srgbClr val="FFFFFF"/>
                </a:solidFill>
                <a:latin typeface="Arial"/>
              </a:rPr>
              <a:t>COMPUTE NODE</a:t>
            </a:r>
          </a:p>
        </p:txBody>
      </p:sp>
      <p:sp>
        <p:nvSpPr>
          <p:cNvPr id="14" name="Rectangle 13"/>
          <p:cNvSpPr/>
          <p:nvPr/>
        </p:nvSpPr>
        <p:spPr>
          <a:xfrm>
            <a:off x="6153912" y="2377440"/>
            <a:ext cx="5394960" cy="713232"/>
          </a:xfrm>
          <a:prstGeom prst="rect">
            <a:avLst/>
          </a:prstGeom>
          <a:solidFill>
            <a:srgbClr val="F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53912" y="2377440"/>
            <a:ext cx="5394960" cy="713232"/>
          </a:xfrm>
          <a:prstGeom prst="rect">
            <a:avLst/>
          </a:prstGeom>
          <a:noFill/>
        </p:spPr>
        <p:txBody>
          <a:bodyPr wrap="square" anchor="ctr" lIns="0" rIns="0" tIns="0" bIns="0">
            <a:spAutoFit/>
          </a:bodyPr>
          <a:lstStyle/>
          <a:p>
            <a:pPr algn="ctr">
              <a:lnSpc>
                <a:spcPct val="110000"/>
              </a:lnSpc>
            </a:pPr>
            <a:r>
              <a:rPr sz="1900" b="0">
                <a:solidFill>
                  <a:srgbClr val="000000"/>
                </a:solidFill>
                <a:latin typeface="Georgia"/>
              </a:rPr>
              <a:t>Where the real work runs</a:t>
            </a:r>
          </a:p>
        </p:txBody>
      </p:sp>
      <p:sp>
        <p:nvSpPr>
          <p:cNvPr id="16" name="Rectangle 15"/>
          <p:cNvSpPr/>
          <p:nvPr/>
        </p:nvSpPr>
        <p:spPr>
          <a:xfrm>
            <a:off x="6153912" y="3090672"/>
            <a:ext cx="539496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53912" y="3090672"/>
            <a:ext cx="5394960" cy="713232"/>
          </a:xfrm>
          <a:prstGeom prst="rect">
            <a:avLst/>
          </a:prstGeom>
          <a:noFill/>
        </p:spPr>
        <p:txBody>
          <a:bodyPr wrap="square" anchor="ctr" lIns="0" rIns="0" tIns="0" bIns="0">
            <a:spAutoFit/>
          </a:bodyPr>
          <a:lstStyle/>
          <a:p>
            <a:pPr algn="ctr">
              <a:lnSpc>
                <a:spcPct val="110000"/>
              </a:lnSpc>
            </a:pPr>
            <a:r>
              <a:rPr sz="1900" b="0">
                <a:solidFill>
                  <a:srgbClr val="000000"/>
                </a:solidFill>
                <a:latin typeface="Georgia"/>
              </a:rPr>
              <a:t>Reserved for you</a:t>
            </a:r>
          </a:p>
        </p:txBody>
      </p:sp>
      <p:sp>
        <p:nvSpPr>
          <p:cNvPr id="18" name="Rectangle 17"/>
          <p:cNvSpPr/>
          <p:nvPr/>
        </p:nvSpPr>
        <p:spPr>
          <a:xfrm>
            <a:off x="6153912" y="3803904"/>
            <a:ext cx="5394960" cy="713232"/>
          </a:xfrm>
          <a:prstGeom prst="rect">
            <a:avLst/>
          </a:prstGeom>
          <a:solidFill>
            <a:srgbClr val="F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53912" y="3803904"/>
            <a:ext cx="5394960" cy="713232"/>
          </a:xfrm>
          <a:prstGeom prst="rect">
            <a:avLst/>
          </a:prstGeom>
          <a:noFill/>
        </p:spPr>
        <p:txBody>
          <a:bodyPr wrap="square" anchor="ctr" lIns="0" rIns="0" tIns="0" bIns="0">
            <a:spAutoFit/>
          </a:bodyPr>
          <a:lstStyle/>
          <a:p>
            <a:pPr algn="ctr">
              <a:lnSpc>
                <a:spcPct val="110000"/>
              </a:lnSpc>
            </a:pPr>
            <a:r>
              <a:rPr sz="1900" b="0">
                <a:solidFill>
                  <a:srgbClr val="000000"/>
                </a:solidFill>
                <a:latin typeface="Georgia"/>
              </a:rPr>
              <a:t>Heavy analysis, big data</a:t>
            </a:r>
          </a:p>
        </p:txBody>
      </p:sp>
      <p:sp>
        <p:nvSpPr>
          <p:cNvPr id="20" name="Rectangle 19"/>
          <p:cNvSpPr/>
          <p:nvPr/>
        </p:nvSpPr>
        <p:spPr>
          <a:xfrm>
            <a:off x="6035040" y="1691640"/>
            <a:ext cx="118872" cy="2825496"/>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4892040"/>
            <a:ext cx="10908792" cy="868680"/>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4892040"/>
            <a:ext cx="109728" cy="868680"/>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892040"/>
            <a:ext cx="10332720" cy="868680"/>
          </a:xfrm>
          <a:prstGeom prst="rect">
            <a:avLst/>
          </a:prstGeom>
          <a:noFill/>
        </p:spPr>
        <p:txBody>
          <a:bodyPr wrap="square" anchor="ctr" lIns="0" rIns="0" tIns="0" bIns="0">
            <a:spAutoFit/>
          </a:bodyPr>
          <a:lstStyle/>
          <a:p>
            <a:pPr algn="l">
              <a:lnSpc>
                <a:spcPct val="110000"/>
              </a:lnSpc>
            </a:pPr>
            <a:r>
              <a:rPr sz="1600" b="1">
                <a:solidFill>
                  <a:srgbClr val="C1A231"/>
                </a:solidFill>
                <a:latin typeface="Arial"/>
              </a:rPr>
              <a:t>THINK OF IT AS  </a:t>
            </a:r>
            <a:r>
              <a:rPr sz="2000" b="0">
                <a:solidFill>
                  <a:srgbClr val="FFFFFF"/>
                </a:solidFill>
                <a:latin typeface="Georgia"/>
              </a:rPr>
              <a:t>The login node is the lobby. The compute nodes are the labs.</a:t>
            </a:r>
          </a:p>
        </p:txBody>
      </p:sp>
      <p:sp>
        <p:nvSpPr>
          <p:cNvPr id="24" name="TextBox 23"/>
          <p:cNvSpPr txBox="1"/>
          <p:nvPr/>
        </p:nvSpPr>
        <p:spPr>
          <a:xfrm>
            <a:off x="640080" y="6400800"/>
            <a:ext cx="7315200" cy="274320"/>
          </a:xfrm>
          <a:prstGeom prst="rect">
            <a:avLst/>
          </a:prstGeom>
          <a:noFill/>
        </p:spPr>
        <p:txBody>
          <a:bodyPr wrap="square" anchor="t" lIns="0" rIns="0" tIns="0" bIns="0">
            <a:spAutoFit/>
          </a:bodyPr>
          <a:lstStyle/>
          <a:p>
            <a:pPr algn="l">
              <a:lnSpc>
                <a:spcPct val="110000"/>
              </a:lnSpc>
            </a:pPr>
            <a:r>
              <a:rPr sz="1000" b="1">
                <a:solidFill>
                  <a:srgbClr val="A7A8AA"/>
                </a:solidFill>
                <a:latin typeface="Arial"/>
              </a:rPr>
              <a:t>MOREHOUSE SUPERCOMPUTING FACILITY  ·  HPC OFFICE HOURS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anchor="t" lIns="0" rIns="0" tIns="0" bIns="0">
            <a:spAutoFit/>
          </a:bodyPr>
          <a:lstStyle/>
          <a:p>
            <a:pPr algn="l">
              <a:lnSpc>
                <a:spcPct val="110000"/>
              </a:lnSpc>
            </a:pPr>
            <a:r>
              <a:rPr sz="3400" b="1">
                <a:solidFill>
                  <a:srgbClr val="840028"/>
                </a:solidFill>
                <a:latin typeface="Arial"/>
              </a:rPr>
              <a:t>THREE PLACES FOR YOUR FILES</a:t>
            </a:r>
          </a:p>
        </p:txBody>
      </p:sp>
      <p:sp>
        <p:nvSpPr>
          <p:cNvPr id="3" name="Rectangle 2"/>
          <p:cNvSpPr/>
          <p:nvPr/>
        </p:nvSpPr>
        <p:spPr>
          <a:xfrm>
            <a:off x="640080" y="1344168"/>
            <a:ext cx="1005840" cy="73152"/>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1691640"/>
          <a:ext cx="10908792" cy="2834640"/>
        </p:xfrm>
        <a:graphic>
          <a:graphicData uri="http://schemas.openxmlformats.org/drawingml/2006/table">
            <a:tbl>
              <a:tblPr firstRow="1" bandRow="1">
                <a:tableStyleId>{5C22544A-7EE6-4342-B048-85BDC9FD1C3A}</a:tableStyleId>
              </a:tblPr>
              <a:tblGrid>
                <a:gridCol w="2651760"/>
                <a:gridCol w="2752344"/>
                <a:gridCol w="2752344"/>
                <a:gridCol w="2752344"/>
              </a:tblGrid>
              <a:tr h="566928">
                <a:tc>
                  <a:txBody>
                    <a:bodyPr/>
                    <a:lstStyle/>
                    <a:p>
                      <a:r>
                        <a:rPr b="1" sz="1800">
                          <a:solidFill>
                            <a:srgbClr val="FFFFFF"/>
                          </a:solidFill>
                          <a:latin typeface="Arial"/>
                        </a:rPr>
                        <a:t/>
                      </a:r>
                    </a:p>
                  </a:txBody>
                  <a:tcPr anchor="ctr" marL="182880" marR="182880">
                    <a:solidFill>
                      <a:srgbClr val="FFFFFF"/>
                    </a:solidFill>
                  </a:tcPr>
                </a:tc>
                <a:tc>
                  <a:txBody>
                    <a:bodyPr/>
                    <a:lstStyle/>
                    <a:p>
                      <a:r>
                        <a:rPr b="1" sz="1800">
                          <a:solidFill>
                            <a:srgbClr val="FFFFFF"/>
                          </a:solidFill>
                          <a:latin typeface="Arial"/>
                        </a:rPr>
                        <a:t>$HOME</a:t>
                      </a:r>
                    </a:p>
                  </a:txBody>
                  <a:tcPr anchor="ctr" marL="182880" marR="182880">
                    <a:solidFill>
                      <a:srgbClr val="840028"/>
                    </a:solidFill>
                  </a:tcPr>
                </a:tc>
                <a:tc>
                  <a:txBody>
                    <a:bodyPr/>
                    <a:lstStyle/>
                    <a:p>
                      <a:r>
                        <a:rPr b="1" sz="1800">
                          <a:solidFill>
                            <a:srgbClr val="FFFFFF"/>
                          </a:solidFill>
                          <a:latin typeface="Arial"/>
                        </a:rPr>
                        <a:t>$WORK</a:t>
                      </a:r>
                    </a:p>
                  </a:txBody>
                  <a:tcPr anchor="ctr" marL="182880" marR="182880">
                    <a:solidFill>
                      <a:srgbClr val="840028"/>
                    </a:solidFill>
                  </a:tcPr>
                </a:tc>
                <a:tc>
                  <a:txBody>
                    <a:bodyPr/>
                    <a:lstStyle/>
                    <a:p>
                      <a:r>
                        <a:rPr b="1" sz="1800">
                          <a:solidFill>
                            <a:srgbClr val="FFFFFF"/>
                          </a:solidFill>
                          <a:latin typeface="Arial"/>
                        </a:rPr>
                        <a:t>$SCRATCH</a:t>
                      </a:r>
                    </a:p>
                  </a:txBody>
                  <a:tcPr anchor="ctr" marL="182880" marR="182880">
                    <a:solidFill>
                      <a:srgbClr val="840028"/>
                    </a:solidFill>
                  </a:tcPr>
                </a:tc>
              </a:tr>
              <a:tr h="566928">
                <a:tc>
                  <a:txBody>
                    <a:bodyPr/>
                    <a:lstStyle/>
                    <a:p>
                      <a:r>
                        <a:rPr b="1" sz="1600">
                          <a:solidFill>
                            <a:srgbClr val="840028"/>
                          </a:solidFill>
                          <a:latin typeface="Arial"/>
                        </a:rPr>
                        <a:t>Space</a:t>
                      </a:r>
                    </a:p>
                  </a:txBody>
                  <a:tcPr anchor="ctr" marL="182880" marR="182880">
                    <a:solidFill>
                      <a:srgbClr val="F4F1F2"/>
                    </a:solidFill>
                  </a:tcPr>
                </a:tc>
                <a:tc>
                  <a:txBody>
                    <a:bodyPr/>
                    <a:lstStyle/>
                    <a:p>
                      <a:r>
                        <a:rPr b="0" sz="1600">
                          <a:solidFill>
                            <a:srgbClr val="000000"/>
                          </a:solidFill>
                          <a:latin typeface="Georgia"/>
                        </a:rPr>
                        <a:t>23 GB</a:t>
                      </a:r>
                    </a:p>
                  </a:txBody>
                  <a:tcPr anchor="ctr" marL="182880" marR="182880">
                    <a:solidFill>
                      <a:srgbClr val="FFFFFF"/>
                    </a:solidFill>
                  </a:tcPr>
                </a:tc>
                <a:tc>
                  <a:txBody>
                    <a:bodyPr/>
                    <a:lstStyle/>
                    <a:p>
                      <a:r>
                        <a:rPr b="0" sz="1600">
                          <a:solidFill>
                            <a:srgbClr val="000000"/>
                          </a:solidFill>
                          <a:latin typeface="Georgia"/>
                        </a:rPr>
                        <a:t>1 TB</a:t>
                      </a:r>
                    </a:p>
                  </a:txBody>
                  <a:tcPr anchor="ctr" marL="182880" marR="182880">
                    <a:solidFill>
                      <a:srgbClr val="FFFFFF"/>
                    </a:solidFill>
                  </a:tcPr>
                </a:tc>
                <a:tc>
                  <a:txBody>
                    <a:bodyPr/>
                    <a:lstStyle/>
                    <a:p>
                      <a:r>
                        <a:rPr b="0" sz="1600">
                          <a:solidFill>
                            <a:srgbClr val="000000"/>
                          </a:solidFill>
                          <a:latin typeface="Georgia"/>
                        </a:rPr>
                        <a:t>No limit</a:t>
                      </a:r>
                    </a:p>
                  </a:txBody>
                  <a:tcPr anchor="ctr" marL="182880" marR="182880">
                    <a:solidFill>
                      <a:srgbClr val="FFFFFF"/>
                    </a:solidFill>
                  </a:tcPr>
                </a:tc>
              </a:tr>
              <a:tr h="566928">
                <a:tc>
                  <a:txBody>
                    <a:bodyPr/>
                    <a:lstStyle/>
                    <a:p>
                      <a:r>
                        <a:rPr b="1" sz="1600">
                          <a:solidFill>
                            <a:srgbClr val="840028"/>
                          </a:solidFill>
                          <a:latin typeface="Arial"/>
                        </a:rPr>
                        <a:t>For</a:t>
                      </a:r>
                    </a:p>
                  </a:txBody>
                  <a:tcPr anchor="ctr" marL="182880" marR="182880">
                    <a:solidFill>
                      <a:srgbClr val="F4F1F2"/>
                    </a:solidFill>
                  </a:tcPr>
                </a:tc>
                <a:tc>
                  <a:txBody>
                    <a:bodyPr/>
                    <a:lstStyle/>
                    <a:p>
                      <a:r>
                        <a:rPr b="0" sz="1600">
                          <a:solidFill>
                            <a:srgbClr val="000000"/>
                          </a:solidFill>
                          <a:latin typeface="Georgia"/>
                        </a:rPr>
                        <a:t>Settings, small scripts</a:t>
                      </a:r>
                    </a:p>
                  </a:txBody>
                  <a:tcPr anchor="ctr" marL="182880" marR="182880">
                    <a:solidFill>
                      <a:srgbClr val="F4F1F2"/>
                    </a:solidFill>
                  </a:tcPr>
                </a:tc>
                <a:tc>
                  <a:txBody>
                    <a:bodyPr/>
                    <a:lstStyle/>
                    <a:p>
                      <a:r>
                        <a:rPr b="0" sz="1600">
                          <a:solidFill>
                            <a:srgbClr val="000000"/>
                          </a:solidFill>
                          <a:latin typeface="Georgia"/>
                        </a:rPr>
                        <a:t>Your projects</a:t>
                      </a:r>
                    </a:p>
                  </a:txBody>
                  <a:tcPr anchor="ctr" marL="182880" marR="182880">
                    <a:solidFill>
                      <a:srgbClr val="F4F1F2"/>
                    </a:solidFill>
                  </a:tcPr>
                </a:tc>
                <a:tc>
                  <a:txBody>
                    <a:bodyPr/>
                    <a:lstStyle/>
                    <a:p>
                      <a:r>
                        <a:rPr b="0" sz="1600">
                          <a:solidFill>
                            <a:srgbClr val="000000"/>
                          </a:solidFill>
                          <a:latin typeface="Georgia"/>
                        </a:rPr>
                        <a:t>Big, temporary runs</a:t>
                      </a:r>
                    </a:p>
                  </a:txBody>
                  <a:tcPr anchor="ctr" marL="182880" marR="182880">
                    <a:solidFill>
                      <a:srgbClr val="F4F1F2"/>
                    </a:solidFill>
                  </a:tcPr>
                </a:tc>
              </a:tr>
              <a:tr h="566928">
                <a:tc>
                  <a:txBody>
                    <a:bodyPr/>
                    <a:lstStyle/>
                    <a:p>
                      <a:r>
                        <a:rPr b="1" sz="1600">
                          <a:solidFill>
                            <a:srgbClr val="840028"/>
                          </a:solidFill>
                          <a:latin typeface="Arial"/>
                        </a:rPr>
                        <a:t>Backed up</a:t>
                      </a:r>
                    </a:p>
                  </a:txBody>
                  <a:tcPr anchor="ctr" marL="182880" marR="182880">
                    <a:solidFill>
                      <a:srgbClr val="F4F1F2"/>
                    </a:solidFill>
                  </a:tcPr>
                </a:tc>
                <a:tc>
                  <a:txBody>
                    <a:bodyPr/>
                    <a:lstStyle/>
                    <a:p>
                      <a:r>
                        <a:rPr b="0" sz="1600">
                          <a:solidFill>
                            <a:srgbClr val="000000"/>
                          </a:solidFill>
                          <a:latin typeface="Georgia"/>
                        </a:rPr>
                        <a:t>Yes</a:t>
                      </a:r>
                    </a:p>
                  </a:txBody>
                  <a:tcPr anchor="ctr" marL="182880" marR="182880">
                    <a:solidFill>
                      <a:srgbClr val="FFFFFF"/>
                    </a:solidFill>
                  </a:tcPr>
                </a:tc>
                <a:tc>
                  <a:txBody>
                    <a:bodyPr/>
                    <a:lstStyle/>
                    <a:p>
                      <a:r>
                        <a:rPr b="0" sz="1600">
                          <a:solidFill>
                            <a:srgbClr val="000000"/>
                          </a:solidFill>
                          <a:latin typeface="Georgia"/>
                        </a:rPr>
                        <a:t>No</a:t>
                      </a:r>
                    </a:p>
                  </a:txBody>
                  <a:tcPr anchor="ctr" marL="182880" marR="182880">
                    <a:solidFill>
                      <a:srgbClr val="FFFFFF"/>
                    </a:solidFill>
                  </a:tcPr>
                </a:tc>
                <a:tc>
                  <a:txBody>
                    <a:bodyPr/>
                    <a:lstStyle/>
                    <a:p>
                      <a:r>
                        <a:rPr b="0" sz="1600">
                          <a:solidFill>
                            <a:srgbClr val="000000"/>
                          </a:solidFill>
                          <a:latin typeface="Georgia"/>
                        </a:rPr>
                        <a:t>No</a:t>
                      </a:r>
                    </a:p>
                  </a:txBody>
                  <a:tcPr anchor="ctr" marL="182880" marR="182880">
                    <a:solidFill>
                      <a:srgbClr val="FFFFFF"/>
                    </a:solidFill>
                  </a:tcPr>
                </a:tc>
              </a:tr>
              <a:tr h="566928">
                <a:tc>
                  <a:txBody>
                    <a:bodyPr/>
                    <a:lstStyle/>
                    <a:p>
                      <a:r>
                        <a:rPr b="1" sz="1600">
                          <a:solidFill>
                            <a:srgbClr val="840028"/>
                          </a:solidFill>
                          <a:latin typeface="Arial"/>
                        </a:rPr>
                        <a:t>Deleted automatically</a:t>
                      </a:r>
                    </a:p>
                  </a:txBody>
                  <a:tcPr anchor="ctr" marL="182880" marR="182880">
                    <a:solidFill>
                      <a:srgbClr val="F4F1F2"/>
                    </a:solidFill>
                  </a:tcPr>
                </a:tc>
                <a:tc>
                  <a:txBody>
                    <a:bodyPr/>
                    <a:lstStyle/>
                    <a:p>
                      <a:r>
                        <a:rPr b="0" sz="1600">
                          <a:solidFill>
                            <a:srgbClr val="000000"/>
                          </a:solidFill>
                          <a:latin typeface="Georgia"/>
                        </a:rPr>
                        <a:t>Never</a:t>
                      </a:r>
                    </a:p>
                  </a:txBody>
                  <a:tcPr anchor="ctr" marL="182880" marR="182880">
                    <a:solidFill>
                      <a:srgbClr val="F4F1F2"/>
                    </a:solidFill>
                  </a:tcPr>
                </a:tc>
                <a:tc>
                  <a:txBody>
                    <a:bodyPr/>
                    <a:lstStyle/>
                    <a:p>
                      <a:r>
                        <a:rPr b="0" sz="1600">
                          <a:solidFill>
                            <a:srgbClr val="000000"/>
                          </a:solidFill>
                          <a:latin typeface="Georgia"/>
                        </a:rPr>
                        <a:t>Never</a:t>
                      </a:r>
                    </a:p>
                  </a:txBody>
                  <a:tcPr anchor="ctr" marL="182880" marR="182880">
                    <a:solidFill>
                      <a:srgbClr val="F4F1F2"/>
                    </a:solidFill>
                  </a:tcPr>
                </a:tc>
                <a:tc>
                  <a:txBody>
                    <a:bodyPr/>
                    <a:lstStyle/>
                    <a:p>
                      <a:r>
                        <a:rPr b="0" sz="1600">
                          <a:solidFill>
                            <a:srgbClr val="000000"/>
                          </a:solidFill>
                          <a:latin typeface="Georgia"/>
                        </a:rPr>
                        <a:t>After 10 days untouched</a:t>
                      </a:r>
                    </a:p>
                  </a:txBody>
                  <a:tcPr anchor="ctr" marL="182880" marR="182880">
                    <a:solidFill>
                      <a:srgbClr val="F4F1F2"/>
                    </a:solidFill>
                  </a:tcPr>
                </a:tc>
              </a:tr>
            </a:tbl>
          </a:graphicData>
        </a:graphic>
      </p:graphicFrame>
      <p:sp>
        <p:nvSpPr>
          <p:cNvPr id="5" name="Rectangle 4"/>
          <p:cNvSpPr/>
          <p:nvPr/>
        </p:nvSpPr>
        <p:spPr>
          <a:xfrm>
            <a:off x="640080" y="4892040"/>
            <a:ext cx="10908792" cy="868680"/>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4892040"/>
            <a:ext cx="109728" cy="868680"/>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4892040"/>
            <a:ext cx="10332720" cy="868680"/>
          </a:xfrm>
          <a:prstGeom prst="rect">
            <a:avLst/>
          </a:prstGeom>
          <a:noFill/>
        </p:spPr>
        <p:txBody>
          <a:bodyPr wrap="square" anchor="ctr" lIns="0" rIns="0" tIns="0" bIns="0">
            <a:spAutoFit/>
          </a:bodyPr>
          <a:lstStyle/>
          <a:p>
            <a:pPr algn="l">
              <a:lnSpc>
                <a:spcPct val="110000"/>
              </a:lnSpc>
            </a:pPr>
            <a:r>
              <a:rPr sz="1600" b="1">
                <a:solidFill>
                  <a:srgbClr val="C1A231"/>
                </a:solidFill>
                <a:latin typeface="Arial"/>
              </a:rPr>
              <a:t>RULE OF THUMB  </a:t>
            </a:r>
            <a:r>
              <a:rPr sz="2000" b="0">
                <a:solidFill>
                  <a:srgbClr val="FFFFFF"/>
                </a:solidFill>
                <a:latin typeface="Georgia"/>
              </a:rPr>
              <a:t>Keep your projects in $WORK. Treat $SCRATCH as temporary.</a:t>
            </a:r>
          </a:p>
        </p:txBody>
      </p:sp>
      <p:sp>
        <p:nvSpPr>
          <p:cNvPr id="8" name="TextBox 7"/>
          <p:cNvSpPr txBox="1"/>
          <p:nvPr/>
        </p:nvSpPr>
        <p:spPr>
          <a:xfrm>
            <a:off x="640080" y="6400800"/>
            <a:ext cx="7315200" cy="274320"/>
          </a:xfrm>
          <a:prstGeom prst="rect">
            <a:avLst/>
          </a:prstGeom>
          <a:noFill/>
        </p:spPr>
        <p:txBody>
          <a:bodyPr wrap="square" anchor="t" lIns="0" rIns="0" tIns="0" bIns="0">
            <a:spAutoFit/>
          </a:bodyPr>
          <a:lstStyle/>
          <a:p>
            <a:pPr algn="l">
              <a:lnSpc>
                <a:spcPct val="110000"/>
              </a:lnSpc>
            </a:pPr>
            <a:r>
              <a:rPr sz="1000" b="1">
                <a:solidFill>
                  <a:srgbClr val="A7A8AA"/>
                </a:solidFill>
                <a:latin typeface="Arial"/>
              </a:rPr>
              <a:t>MOREHOUSE SUPERCOMPUTING FACILITY  ·  HPC OFFICE HOURS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anchor="t" lIns="0" rIns="0" tIns="0" bIns="0">
            <a:spAutoFit/>
          </a:bodyPr>
          <a:lstStyle/>
          <a:p>
            <a:pPr algn="l">
              <a:lnSpc>
                <a:spcPct val="110000"/>
              </a:lnSpc>
            </a:pPr>
            <a:r>
              <a:rPr sz="3400" b="1">
                <a:solidFill>
                  <a:srgbClr val="840028"/>
                </a:solidFill>
                <a:latin typeface="Arial"/>
              </a:rPr>
              <a:t>THREE WAYS TO GET A COMPUTE NODE</a:t>
            </a:r>
          </a:p>
        </p:txBody>
      </p:sp>
      <p:sp>
        <p:nvSpPr>
          <p:cNvPr id="3" name="Rectangle 2"/>
          <p:cNvSpPr/>
          <p:nvPr/>
        </p:nvSpPr>
        <p:spPr>
          <a:xfrm>
            <a:off x="640080" y="1344168"/>
            <a:ext cx="1005840" cy="73152"/>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737360"/>
            <a:ext cx="3453384" cy="2926080"/>
          </a:xfrm>
          <a:prstGeom prst="rect">
            <a:avLst/>
          </a:prstGeom>
          <a:solidFill>
            <a:srgbClr val="F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37360"/>
            <a:ext cx="3453384" cy="73152"/>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914400" cy="640080"/>
          </a:xfrm>
          <a:prstGeom prst="rect">
            <a:avLst/>
          </a:prstGeom>
          <a:noFill/>
        </p:spPr>
        <p:txBody>
          <a:bodyPr wrap="square" anchor="t" lIns="0" rIns="0" tIns="0" bIns="0">
            <a:spAutoFit/>
          </a:bodyPr>
          <a:lstStyle/>
          <a:p>
            <a:pPr algn="l">
              <a:lnSpc>
                <a:spcPct val="110000"/>
              </a:lnSpc>
            </a:pPr>
            <a:r>
              <a:rPr sz="3000" b="1">
                <a:solidFill>
                  <a:srgbClr val="C1A231"/>
                </a:solidFill>
                <a:latin typeface="Arial"/>
              </a:rPr>
              <a:t>01</a:t>
            </a:r>
          </a:p>
        </p:txBody>
      </p:sp>
      <p:sp>
        <p:nvSpPr>
          <p:cNvPr id="7" name="TextBox 6"/>
          <p:cNvSpPr txBox="1"/>
          <p:nvPr/>
        </p:nvSpPr>
        <p:spPr>
          <a:xfrm>
            <a:off x="914400" y="2697480"/>
            <a:ext cx="2904744" cy="822960"/>
          </a:xfrm>
          <a:prstGeom prst="rect">
            <a:avLst/>
          </a:prstGeom>
          <a:noFill/>
        </p:spPr>
        <p:txBody>
          <a:bodyPr wrap="square" anchor="t" lIns="0" rIns="0" tIns="0" bIns="0">
            <a:spAutoFit/>
          </a:bodyPr>
          <a:lstStyle/>
          <a:p>
            <a:pPr algn="l">
              <a:lnSpc>
                <a:spcPct val="110000"/>
              </a:lnSpc>
            </a:pPr>
            <a:r>
              <a:rPr sz="2200" b="1">
                <a:solidFill>
                  <a:srgbClr val="840028"/>
                </a:solidFill>
                <a:latin typeface="Arial"/>
              </a:rPr>
              <a:t>Queue</a:t>
            </a:r>
          </a:p>
        </p:txBody>
      </p:sp>
      <p:sp>
        <p:nvSpPr>
          <p:cNvPr id="8" name="TextBox 7"/>
          <p:cNvSpPr txBox="1"/>
          <p:nvPr/>
        </p:nvSpPr>
        <p:spPr>
          <a:xfrm>
            <a:off x="914400" y="3383280"/>
            <a:ext cx="2904744" cy="1143000"/>
          </a:xfrm>
          <a:prstGeom prst="rect">
            <a:avLst/>
          </a:prstGeom>
          <a:noFill/>
        </p:spPr>
        <p:txBody>
          <a:bodyPr wrap="square" anchor="t" lIns="0" rIns="0" tIns="0" bIns="0">
            <a:spAutoFit/>
          </a:bodyPr>
          <a:lstStyle/>
          <a:p>
            <a:pPr algn="l">
              <a:lnSpc>
                <a:spcPct val="110000"/>
              </a:lnSpc>
            </a:pPr>
            <a:r>
              <a:rPr sz="1600" b="0">
                <a:solidFill>
                  <a:srgbClr val="4A4A4A"/>
                </a:solidFill>
                <a:latin typeface="Georgia"/>
              </a:rPr>
              <a:t>Submit a job and wait your turn. First come, first served. Best for long or overnight runs.</a:t>
            </a:r>
          </a:p>
        </p:txBody>
      </p:sp>
      <p:sp>
        <p:nvSpPr>
          <p:cNvPr id="9" name="Rectangle 8"/>
          <p:cNvSpPr/>
          <p:nvPr/>
        </p:nvSpPr>
        <p:spPr>
          <a:xfrm>
            <a:off x="4367784" y="1737360"/>
            <a:ext cx="3453384" cy="2926080"/>
          </a:xfrm>
          <a:prstGeom prst="rect">
            <a:avLst/>
          </a:prstGeom>
          <a:solidFill>
            <a:srgbClr val="F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7784" y="1737360"/>
            <a:ext cx="3453384" cy="73152"/>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2011680"/>
            <a:ext cx="914400" cy="640080"/>
          </a:xfrm>
          <a:prstGeom prst="rect">
            <a:avLst/>
          </a:prstGeom>
          <a:noFill/>
        </p:spPr>
        <p:txBody>
          <a:bodyPr wrap="square" anchor="t" lIns="0" rIns="0" tIns="0" bIns="0">
            <a:spAutoFit/>
          </a:bodyPr>
          <a:lstStyle/>
          <a:p>
            <a:pPr algn="l">
              <a:lnSpc>
                <a:spcPct val="110000"/>
              </a:lnSpc>
            </a:pPr>
            <a:r>
              <a:rPr sz="3000" b="1">
                <a:solidFill>
                  <a:srgbClr val="C1A231"/>
                </a:solidFill>
                <a:latin typeface="Arial"/>
              </a:rPr>
              <a:t>02</a:t>
            </a:r>
          </a:p>
        </p:txBody>
      </p:sp>
      <p:sp>
        <p:nvSpPr>
          <p:cNvPr id="12" name="TextBox 11"/>
          <p:cNvSpPr txBox="1"/>
          <p:nvPr/>
        </p:nvSpPr>
        <p:spPr>
          <a:xfrm>
            <a:off x="4642104" y="2697480"/>
            <a:ext cx="2904744" cy="822960"/>
          </a:xfrm>
          <a:prstGeom prst="rect">
            <a:avLst/>
          </a:prstGeom>
          <a:noFill/>
        </p:spPr>
        <p:txBody>
          <a:bodyPr wrap="square" anchor="t" lIns="0" rIns="0" tIns="0" bIns="0">
            <a:spAutoFit/>
          </a:bodyPr>
          <a:lstStyle/>
          <a:p>
            <a:pPr algn="l">
              <a:lnSpc>
                <a:spcPct val="110000"/>
              </a:lnSpc>
            </a:pPr>
            <a:r>
              <a:rPr sz="2200" b="1">
                <a:solidFill>
                  <a:srgbClr val="840028"/>
                </a:solidFill>
                <a:latin typeface="Arial"/>
              </a:rPr>
              <a:t>Interactive session</a:t>
            </a:r>
          </a:p>
        </p:txBody>
      </p:sp>
      <p:sp>
        <p:nvSpPr>
          <p:cNvPr id="13" name="TextBox 12"/>
          <p:cNvSpPr txBox="1"/>
          <p:nvPr/>
        </p:nvSpPr>
        <p:spPr>
          <a:xfrm>
            <a:off x="4642104" y="3383280"/>
            <a:ext cx="2904744" cy="1143000"/>
          </a:xfrm>
          <a:prstGeom prst="rect">
            <a:avLst/>
          </a:prstGeom>
          <a:noFill/>
        </p:spPr>
        <p:txBody>
          <a:bodyPr wrap="square" anchor="t" lIns="0" rIns="0" tIns="0" bIns="0">
            <a:spAutoFit/>
          </a:bodyPr>
          <a:lstStyle/>
          <a:p>
            <a:pPr algn="l">
              <a:lnSpc>
                <a:spcPct val="110000"/>
              </a:lnSpc>
            </a:pPr>
            <a:r>
              <a:rPr sz="1600" b="0">
                <a:solidFill>
                  <a:srgbClr val="4A4A4A"/>
                </a:solidFill>
                <a:latin typeface="Georgia"/>
              </a:rPr>
              <a:t>Work on a compute node live. Good for testing code. Coming in the next workshop.</a:t>
            </a:r>
          </a:p>
        </p:txBody>
      </p:sp>
      <p:sp>
        <p:nvSpPr>
          <p:cNvPr id="14" name="Rectangle 13"/>
          <p:cNvSpPr/>
          <p:nvPr/>
        </p:nvSpPr>
        <p:spPr>
          <a:xfrm>
            <a:off x="8095488" y="1737360"/>
            <a:ext cx="3453384" cy="2926080"/>
          </a:xfrm>
          <a:prstGeom prst="rect">
            <a:avLst/>
          </a:prstGeom>
          <a:solidFill>
            <a:srgbClr val="F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5488" y="1737360"/>
            <a:ext cx="3453384" cy="73152"/>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9808" y="2011680"/>
            <a:ext cx="914400" cy="640080"/>
          </a:xfrm>
          <a:prstGeom prst="rect">
            <a:avLst/>
          </a:prstGeom>
          <a:noFill/>
        </p:spPr>
        <p:txBody>
          <a:bodyPr wrap="square" anchor="t" lIns="0" rIns="0" tIns="0" bIns="0">
            <a:spAutoFit/>
          </a:bodyPr>
          <a:lstStyle/>
          <a:p>
            <a:pPr algn="l">
              <a:lnSpc>
                <a:spcPct val="110000"/>
              </a:lnSpc>
            </a:pPr>
            <a:r>
              <a:rPr sz="3000" b="1">
                <a:solidFill>
                  <a:srgbClr val="C1A231"/>
                </a:solidFill>
                <a:latin typeface="Arial"/>
              </a:rPr>
              <a:t>03</a:t>
            </a:r>
          </a:p>
        </p:txBody>
      </p:sp>
      <p:sp>
        <p:nvSpPr>
          <p:cNvPr id="17" name="TextBox 16"/>
          <p:cNvSpPr txBox="1"/>
          <p:nvPr/>
        </p:nvSpPr>
        <p:spPr>
          <a:xfrm>
            <a:off x="8369808" y="2697480"/>
            <a:ext cx="2904744" cy="822960"/>
          </a:xfrm>
          <a:prstGeom prst="rect">
            <a:avLst/>
          </a:prstGeom>
          <a:noFill/>
        </p:spPr>
        <p:txBody>
          <a:bodyPr wrap="square" anchor="t" lIns="0" rIns="0" tIns="0" bIns="0">
            <a:spAutoFit/>
          </a:bodyPr>
          <a:lstStyle/>
          <a:p>
            <a:pPr algn="l">
              <a:lnSpc>
                <a:spcPct val="110000"/>
              </a:lnSpc>
            </a:pPr>
            <a:r>
              <a:rPr sz="2200" b="1">
                <a:solidFill>
                  <a:srgbClr val="840028"/>
                </a:solidFill>
                <a:latin typeface="Arial"/>
              </a:rPr>
              <a:t>Reservation</a:t>
            </a:r>
          </a:p>
        </p:txBody>
      </p:sp>
      <p:sp>
        <p:nvSpPr>
          <p:cNvPr id="18" name="TextBox 17"/>
          <p:cNvSpPr txBox="1"/>
          <p:nvPr/>
        </p:nvSpPr>
        <p:spPr>
          <a:xfrm>
            <a:off x="8369808" y="3383280"/>
            <a:ext cx="2904744" cy="1143000"/>
          </a:xfrm>
          <a:prstGeom prst="rect">
            <a:avLst/>
          </a:prstGeom>
          <a:noFill/>
        </p:spPr>
        <p:txBody>
          <a:bodyPr wrap="square" anchor="t" lIns="0" rIns="0" tIns="0" bIns="0">
            <a:spAutoFit/>
          </a:bodyPr>
          <a:lstStyle/>
          <a:p>
            <a:pPr algn="l">
              <a:lnSpc>
                <a:spcPct val="110000"/>
              </a:lnSpc>
            </a:pPr>
            <a:r>
              <a:rPr sz="1600" b="0">
                <a:solidFill>
                  <a:srgbClr val="4A4A4A"/>
                </a:solidFill>
                <a:latin typeface="Georgia"/>
              </a:rPr>
              <a:t>Book nodes ahead of time with a ticket in the user portal. "Two Grace Hopper GPU nodes on Vista, Thursday 8am to 8pm."</a:t>
            </a:r>
          </a:p>
        </p:txBody>
      </p:sp>
      <p:sp>
        <p:nvSpPr>
          <p:cNvPr id="19" name="Rectangle 18"/>
          <p:cNvSpPr/>
          <p:nvPr/>
        </p:nvSpPr>
        <p:spPr>
          <a:xfrm>
            <a:off x="640080" y="4983480"/>
            <a:ext cx="10908792" cy="868680"/>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4983480"/>
            <a:ext cx="109728" cy="868680"/>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983480"/>
            <a:ext cx="10332720" cy="868680"/>
          </a:xfrm>
          <a:prstGeom prst="rect">
            <a:avLst/>
          </a:prstGeom>
          <a:noFill/>
        </p:spPr>
        <p:txBody>
          <a:bodyPr wrap="square" anchor="ctr" lIns="0" rIns="0" tIns="0" bIns="0">
            <a:spAutoFit/>
          </a:bodyPr>
          <a:lstStyle/>
          <a:p>
            <a:pPr algn="l">
              <a:lnSpc>
                <a:spcPct val="110000"/>
              </a:lnSpc>
            </a:pPr>
            <a:r>
              <a:rPr sz="1600" b="1">
                <a:solidFill>
                  <a:srgbClr val="C1A231"/>
                </a:solidFill>
                <a:latin typeface="Arial"/>
              </a:rPr>
              <a:t>TEST BEFORE YOU QUEUE  </a:t>
            </a:r>
            <a:r>
              <a:rPr sz="2000" b="0">
                <a:solidFill>
                  <a:srgbClr val="FFFFFF"/>
                </a:solidFill>
                <a:latin typeface="Georgia"/>
              </a:rPr>
              <a:t>A script that fails after hours in line sends you to the back of the line.</a:t>
            </a:r>
          </a:p>
        </p:txBody>
      </p:sp>
      <p:sp>
        <p:nvSpPr>
          <p:cNvPr id="22" name="TextBox 21"/>
          <p:cNvSpPr txBox="1"/>
          <p:nvPr/>
        </p:nvSpPr>
        <p:spPr>
          <a:xfrm>
            <a:off x="640080" y="6400800"/>
            <a:ext cx="7315200" cy="274320"/>
          </a:xfrm>
          <a:prstGeom prst="rect">
            <a:avLst/>
          </a:prstGeom>
          <a:noFill/>
        </p:spPr>
        <p:txBody>
          <a:bodyPr wrap="square" anchor="t" lIns="0" rIns="0" tIns="0" bIns="0">
            <a:spAutoFit/>
          </a:bodyPr>
          <a:lstStyle/>
          <a:p>
            <a:pPr algn="l">
              <a:lnSpc>
                <a:spcPct val="110000"/>
              </a:lnSpc>
            </a:pPr>
            <a:r>
              <a:rPr sz="1000" b="1">
                <a:solidFill>
                  <a:srgbClr val="A7A8AA"/>
                </a:solidFill>
                <a:latin typeface="Arial"/>
              </a:rPr>
              <a:t>MOREHOUSE SUPERCOMPUTING FACILITY  ·  HPC OFFICE HOURS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anchor="t" lIns="0" rIns="0" tIns="0" bIns="0">
            <a:spAutoFit/>
          </a:bodyPr>
          <a:lstStyle/>
          <a:p>
            <a:pPr algn="l">
              <a:lnSpc>
                <a:spcPct val="110000"/>
              </a:lnSpc>
            </a:pPr>
            <a:r>
              <a:rPr sz="3400" b="1">
                <a:solidFill>
                  <a:srgbClr val="840028"/>
                </a:solidFill>
                <a:latin typeface="Arial"/>
              </a:rPr>
              <a:t>THE RULES OF THE SYSTEM</a:t>
            </a:r>
          </a:p>
        </p:txBody>
      </p:sp>
      <p:sp>
        <p:nvSpPr>
          <p:cNvPr id="3" name="Rectangle 2"/>
          <p:cNvSpPr/>
          <p:nvPr/>
        </p:nvSpPr>
        <p:spPr>
          <a:xfrm>
            <a:off x="640080" y="1344168"/>
            <a:ext cx="1005840" cy="73152"/>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737360"/>
            <a:ext cx="914400" cy="914400"/>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914400" cy="914400"/>
          </a:xfrm>
          <a:prstGeom prst="rect">
            <a:avLst/>
          </a:prstGeom>
          <a:noFill/>
        </p:spPr>
        <p:txBody>
          <a:bodyPr wrap="square" anchor="ctr" lIns="0" rIns="0" tIns="0" bIns="0">
            <a:spAutoFit/>
          </a:bodyPr>
          <a:lstStyle/>
          <a:p>
            <a:pPr algn="ctr">
              <a:lnSpc>
                <a:spcPct val="110000"/>
              </a:lnSpc>
            </a:pPr>
            <a:r>
              <a:rPr sz="3200" b="1">
                <a:solidFill>
                  <a:srgbClr val="C1A231"/>
                </a:solidFill>
                <a:latin typeface="Arial"/>
              </a:rPr>
              <a:t>1</a:t>
            </a:r>
          </a:p>
        </p:txBody>
      </p:sp>
      <p:sp>
        <p:nvSpPr>
          <p:cNvPr id="6" name="TextBox 5"/>
          <p:cNvSpPr txBox="1"/>
          <p:nvPr/>
        </p:nvSpPr>
        <p:spPr>
          <a:xfrm>
            <a:off x="1828800" y="1737360"/>
            <a:ext cx="9692640" cy="914400"/>
          </a:xfrm>
          <a:prstGeom prst="rect">
            <a:avLst/>
          </a:prstGeom>
          <a:noFill/>
        </p:spPr>
        <p:txBody>
          <a:bodyPr wrap="square" anchor="ctr" lIns="0" rIns="0" tIns="0" bIns="0">
            <a:spAutoFit/>
          </a:bodyPr>
          <a:lstStyle/>
          <a:p>
            <a:pPr algn="l">
              <a:lnSpc>
                <a:spcPct val="110000"/>
              </a:lnSpc>
            </a:pPr>
            <a:r>
              <a:rPr sz="2200" b="1">
                <a:solidFill>
                  <a:srgbClr val="840028"/>
                </a:solidFill>
                <a:latin typeface="Arial"/>
              </a:rPr>
              <a:t>No heavy work on the login node.  </a:t>
            </a:r>
            <a:r>
              <a:rPr sz="2000" b="0">
                <a:solidFill>
                  <a:srgbClr val="000000"/>
                </a:solidFill>
                <a:latin typeface="Georgia"/>
              </a:rPr>
              <a:t>It is shared. Heavy work goes to compute nodes.</a:t>
            </a:r>
          </a:p>
        </p:txBody>
      </p:sp>
      <p:sp>
        <p:nvSpPr>
          <p:cNvPr id="7" name="Rectangle 6"/>
          <p:cNvSpPr/>
          <p:nvPr/>
        </p:nvSpPr>
        <p:spPr>
          <a:xfrm>
            <a:off x="640080" y="2834640"/>
            <a:ext cx="914400" cy="914400"/>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834640"/>
            <a:ext cx="914400" cy="914400"/>
          </a:xfrm>
          <a:prstGeom prst="rect">
            <a:avLst/>
          </a:prstGeom>
          <a:noFill/>
        </p:spPr>
        <p:txBody>
          <a:bodyPr wrap="square" anchor="ctr" lIns="0" rIns="0" tIns="0" bIns="0">
            <a:spAutoFit/>
          </a:bodyPr>
          <a:lstStyle/>
          <a:p>
            <a:pPr algn="ctr">
              <a:lnSpc>
                <a:spcPct val="110000"/>
              </a:lnSpc>
            </a:pPr>
            <a:r>
              <a:rPr sz="3200" b="1">
                <a:solidFill>
                  <a:srgbClr val="C1A231"/>
                </a:solidFill>
                <a:latin typeface="Arial"/>
              </a:rPr>
              <a:t>2</a:t>
            </a:r>
          </a:p>
        </p:txBody>
      </p:sp>
      <p:sp>
        <p:nvSpPr>
          <p:cNvPr id="9" name="TextBox 8"/>
          <p:cNvSpPr txBox="1"/>
          <p:nvPr/>
        </p:nvSpPr>
        <p:spPr>
          <a:xfrm>
            <a:off x="1828800" y="2834640"/>
            <a:ext cx="9692640" cy="914400"/>
          </a:xfrm>
          <a:prstGeom prst="rect">
            <a:avLst/>
          </a:prstGeom>
          <a:noFill/>
        </p:spPr>
        <p:txBody>
          <a:bodyPr wrap="square" anchor="ctr" lIns="0" rIns="0" tIns="0" bIns="0">
            <a:spAutoFit/>
          </a:bodyPr>
          <a:lstStyle/>
          <a:p>
            <a:pPr algn="l">
              <a:lnSpc>
                <a:spcPct val="110000"/>
              </a:lnSpc>
            </a:pPr>
            <a:r>
              <a:rPr sz="2200" b="1">
                <a:solidFill>
                  <a:srgbClr val="840028"/>
                </a:solidFill>
                <a:latin typeface="Arial"/>
              </a:rPr>
              <a:t>Your account is yours.  </a:t>
            </a:r>
            <a:r>
              <a:rPr sz="2000" b="0">
                <a:solidFill>
                  <a:srgbClr val="000000"/>
                </a:solidFill>
                <a:latin typeface="Georgia"/>
              </a:rPr>
              <a:t>Never share your password or MFA.</a:t>
            </a:r>
          </a:p>
        </p:txBody>
      </p:sp>
      <p:sp>
        <p:nvSpPr>
          <p:cNvPr id="10" name="Rectangle 9"/>
          <p:cNvSpPr/>
          <p:nvPr/>
        </p:nvSpPr>
        <p:spPr>
          <a:xfrm>
            <a:off x="640080" y="3931920"/>
            <a:ext cx="914400" cy="914400"/>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931920"/>
            <a:ext cx="914400" cy="914400"/>
          </a:xfrm>
          <a:prstGeom prst="rect">
            <a:avLst/>
          </a:prstGeom>
          <a:noFill/>
        </p:spPr>
        <p:txBody>
          <a:bodyPr wrap="square" anchor="ctr" lIns="0" rIns="0" tIns="0" bIns="0">
            <a:spAutoFit/>
          </a:bodyPr>
          <a:lstStyle/>
          <a:p>
            <a:pPr algn="ctr">
              <a:lnSpc>
                <a:spcPct val="110000"/>
              </a:lnSpc>
            </a:pPr>
            <a:r>
              <a:rPr sz="3200" b="1">
                <a:solidFill>
                  <a:srgbClr val="C1A231"/>
                </a:solidFill>
                <a:latin typeface="Arial"/>
              </a:rPr>
              <a:t>3</a:t>
            </a:r>
          </a:p>
        </p:txBody>
      </p:sp>
      <p:sp>
        <p:nvSpPr>
          <p:cNvPr id="12" name="TextBox 11"/>
          <p:cNvSpPr txBox="1"/>
          <p:nvPr/>
        </p:nvSpPr>
        <p:spPr>
          <a:xfrm>
            <a:off x="1828800" y="3931920"/>
            <a:ext cx="9692640" cy="914400"/>
          </a:xfrm>
          <a:prstGeom prst="rect">
            <a:avLst/>
          </a:prstGeom>
          <a:noFill/>
        </p:spPr>
        <p:txBody>
          <a:bodyPr wrap="square" anchor="ctr" lIns="0" rIns="0" tIns="0" bIns="0">
            <a:spAutoFit/>
          </a:bodyPr>
          <a:lstStyle/>
          <a:p>
            <a:pPr algn="l">
              <a:lnSpc>
                <a:spcPct val="110000"/>
              </a:lnSpc>
            </a:pPr>
            <a:r>
              <a:rPr sz="2200" b="1">
                <a:solidFill>
                  <a:srgbClr val="840028"/>
                </a:solidFill>
                <a:latin typeface="Arial"/>
              </a:rPr>
              <a:t>Keep a copy of anything important.  </a:t>
            </a:r>
            <a:r>
              <a:rPr sz="2000" b="0">
                <a:solidFill>
                  <a:srgbClr val="000000"/>
                </a:solidFill>
                <a:latin typeface="Georgia"/>
              </a:rPr>
              <a:t>$SCRATCH is cleaned out automatically.</a:t>
            </a:r>
          </a:p>
        </p:txBody>
      </p:sp>
      <p:sp>
        <p:nvSpPr>
          <p:cNvPr id="13" name="Rectangle 12"/>
          <p:cNvSpPr/>
          <p:nvPr/>
        </p:nvSpPr>
        <p:spPr>
          <a:xfrm>
            <a:off x="640080" y="5029200"/>
            <a:ext cx="914400" cy="914400"/>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029200"/>
            <a:ext cx="914400" cy="914400"/>
          </a:xfrm>
          <a:prstGeom prst="rect">
            <a:avLst/>
          </a:prstGeom>
          <a:noFill/>
        </p:spPr>
        <p:txBody>
          <a:bodyPr wrap="square" anchor="ctr" lIns="0" rIns="0" tIns="0" bIns="0">
            <a:spAutoFit/>
          </a:bodyPr>
          <a:lstStyle/>
          <a:p>
            <a:pPr algn="ctr">
              <a:lnSpc>
                <a:spcPct val="110000"/>
              </a:lnSpc>
            </a:pPr>
            <a:r>
              <a:rPr sz="3200" b="1">
                <a:solidFill>
                  <a:srgbClr val="C1A231"/>
                </a:solidFill>
                <a:latin typeface="Arial"/>
              </a:rPr>
              <a:t>4</a:t>
            </a:r>
          </a:p>
        </p:txBody>
      </p:sp>
      <p:sp>
        <p:nvSpPr>
          <p:cNvPr id="15" name="TextBox 14"/>
          <p:cNvSpPr txBox="1"/>
          <p:nvPr/>
        </p:nvSpPr>
        <p:spPr>
          <a:xfrm>
            <a:off x="1828800" y="5029200"/>
            <a:ext cx="9692640" cy="914400"/>
          </a:xfrm>
          <a:prstGeom prst="rect">
            <a:avLst/>
          </a:prstGeom>
          <a:noFill/>
        </p:spPr>
        <p:txBody>
          <a:bodyPr wrap="square" anchor="ctr" lIns="0" rIns="0" tIns="0" bIns="0">
            <a:spAutoFit/>
          </a:bodyPr>
          <a:lstStyle/>
          <a:p>
            <a:pPr algn="l">
              <a:lnSpc>
                <a:spcPct val="110000"/>
              </a:lnSpc>
            </a:pPr>
            <a:r>
              <a:rPr sz="2200" b="1">
                <a:solidFill>
                  <a:srgbClr val="840028"/>
                </a:solidFill>
                <a:latin typeface="Arial"/>
              </a:rPr>
              <a:t>Stuck? Ask.  </a:t>
            </a:r>
            <a:r>
              <a:rPr sz="2000" b="0">
                <a:solidFill>
                  <a:srgbClr val="000000"/>
                </a:solidFill>
                <a:latin typeface="Georgia"/>
              </a:rPr>
              <a:t>Breaking something by guessing is worse than asking.</a:t>
            </a:r>
          </a:p>
        </p:txBody>
      </p:sp>
      <p:sp>
        <p:nvSpPr>
          <p:cNvPr id="16" name="TextBox 15"/>
          <p:cNvSpPr txBox="1"/>
          <p:nvPr/>
        </p:nvSpPr>
        <p:spPr>
          <a:xfrm>
            <a:off x="640080" y="6400800"/>
            <a:ext cx="7315200" cy="274320"/>
          </a:xfrm>
          <a:prstGeom prst="rect">
            <a:avLst/>
          </a:prstGeom>
          <a:noFill/>
        </p:spPr>
        <p:txBody>
          <a:bodyPr wrap="square" anchor="t" lIns="0" rIns="0" tIns="0" bIns="0">
            <a:spAutoFit/>
          </a:bodyPr>
          <a:lstStyle/>
          <a:p>
            <a:pPr algn="l">
              <a:lnSpc>
                <a:spcPct val="110000"/>
              </a:lnSpc>
            </a:pPr>
            <a:r>
              <a:rPr sz="1000" b="1">
                <a:solidFill>
                  <a:srgbClr val="A7A8AA"/>
                </a:solidFill>
                <a:latin typeface="Arial"/>
              </a:rPr>
              <a:t>MOREHOUSE SUPERCOMPUTING FACILITY  ·  HPC OFFICE HOURS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840028"/>
        </a:solidFill>
        <a:effectLst/>
      </p:bgPr>
    </p:bg>
    <p:spTree>
      <p:nvGrpSpPr>
        <p:cNvPr id="1" name=""/>
        <p:cNvGrpSpPr/>
        <p:nvPr/>
      </p:nvGrpSpPr>
      <p:grpSpPr/>
      <p:sp>
        <p:nvSpPr>
          <p:cNvPr id="2" name="TextBox 1"/>
          <p:cNvSpPr txBox="1"/>
          <p:nvPr/>
        </p:nvSpPr>
        <p:spPr>
          <a:xfrm>
            <a:off x="640080" y="411480"/>
            <a:ext cx="10881360" cy="731520"/>
          </a:xfrm>
          <a:prstGeom prst="rect">
            <a:avLst/>
          </a:prstGeom>
          <a:noFill/>
        </p:spPr>
        <p:txBody>
          <a:bodyPr wrap="square" anchor="t" lIns="0" rIns="0" tIns="0" bIns="0">
            <a:spAutoFit/>
          </a:bodyPr>
          <a:lstStyle/>
          <a:p>
            <a:pPr algn="l">
              <a:lnSpc>
                <a:spcPct val="110000"/>
              </a:lnSpc>
            </a:pPr>
            <a:r>
              <a:rPr sz="3000" b="1">
                <a:solidFill>
                  <a:srgbClr val="FFFFFF"/>
                </a:solidFill>
                <a:latin typeface="Arial"/>
              </a:rPr>
              <a:t>WHAT'S NEXT: REAL DATA FOR YOUR OPIL WORK</a:t>
            </a:r>
          </a:p>
        </p:txBody>
      </p:sp>
      <p:sp>
        <p:nvSpPr>
          <p:cNvPr id="3" name="Rectangle 2"/>
          <p:cNvSpPr/>
          <p:nvPr/>
        </p:nvSpPr>
        <p:spPr>
          <a:xfrm>
            <a:off x="640080" y="1143000"/>
            <a:ext cx="1005840" cy="73152"/>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48640"/>
          </a:xfrm>
          <a:prstGeom prst="rect">
            <a:avLst/>
          </a:prstGeom>
          <a:noFill/>
        </p:spPr>
        <p:txBody>
          <a:bodyPr wrap="square" anchor="t" lIns="0" rIns="0" tIns="0" bIns="0">
            <a:spAutoFit/>
          </a:bodyPr>
          <a:lstStyle/>
          <a:p>
            <a:pPr algn="l">
              <a:lnSpc>
                <a:spcPct val="110000"/>
              </a:lnSpc>
            </a:pPr>
            <a:r>
              <a:rPr sz="1700" b="1">
                <a:solidFill>
                  <a:srgbClr val="C1A231"/>
                </a:solidFill>
                <a:latin typeface="Georgia"/>
              </a:rPr>
              <a:t>The data: </a:t>
            </a:r>
            <a:r>
              <a:rPr sz="1700" b="0">
                <a:solidFill>
                  <a:srgbClr val="FFFFFF"/>
                </a:solidFill>
                <a:latin typeface="Georgia"/>
              </a:rPr>
              <a:t>the CFPB Consumer Complaint Database. About 10 million real complaints about money transfers, prepaid cards, and digital payments, too big for a laptop.</a:t>
            </a:r>
          </a:p>
        </p:txBody>
      </p:sp>
      <p:sp>
        <p:nvSpPr>
          <p:cNvPr id="5" name="Rectangle 4"/>
          <p:cNvSpPr/>
          <p:nvPr/>
        </p:nvSpPr>
        <p:spPr>
          <a:xfrm>
            <a:off x="640080" y="2148840"/>
            <a:ext cx="5330952" cy="2788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148840"/>
            <a:ext cx="109728" cy="2788920"/>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286000"/>
            <a:ext cx="4754880" cy="457200"/>
          </a:xfrm>
          <a:prstGeom prst="rect">
            <a:avLst/>
          </a:prstGeom>
          <a:noFill/>
        </p:spPr>
        <p:txBody>
          <a:bodyPr wrap="square" anchor="t" lIns="0" rIns="0" tIns="0" bIns="0">
            <a:spAutoFit/>
          </a:bodyPr>
          <a:lstStyle/>
          <a:p>
            <a:pPr algn="l">
              <a:lnSpc>
                <a:spcPct val="110000"/>
              </a:lnSpc>
            </a:pPr>
            <a:r>
              <a:rPr sz="2000" b="1">
                <a:solidFill>
                  <a:srgbClr val="840028"/>
                </a:solidFill>
                <a:latin typeface="Arial"/>
              </a:rPr>
              <a:t>OCT 14   </a:t>
            </a:r>
            <a:r>
              <a:rPr sz="2000" b="1">
                <a:solidFill>
                  <a:srgbClr val="000000"/>
                </a:solidFill>
                <a:latin typeface="Arial"/>
              </a:rPr>
              <a:t>WHAT THE DATA SAYS</a:t>
            </a:r>
          </a:p>
        </p:txBody>
      </p:sp>
      <p:sp>
        <p:nvSpPr>
          <p:cNvPr id="8" name="TextBox 7"/>
          <p:cNvSpPr txBox="1"/>
          <p:nvPr/>
        </p:nvSpPr>
        <p:spPr>
          <a:xfrm>
            <a:off x="1005840" y="2834640"/>
            <a:ext cx="4754880" cy="1097280"/>
          </a:xfrm>
          <a:prstGeom prst="rect">
            <a:avLst/>
          </a:prstGeom>
          <a:noFill/>
        </p:spPr>
        <p:txBody>
          <a:bodyPr wrap="square" anchor="t" lIns="0" rIns="0" tIns="0" bIns="0">
            <a:spAutoFit/>
          </a:bodyPr>
          <a:lstStyle/>
          <a:p>
            <a:pPr algn="l">
              <a:lnSpc>
                <a:spcPct val="110000"/>
              </a:lnSpc>
            </a:pPr>
            <a:r>
              <a:rPr sz="1500" b="0">
                <a:solidFill>
                  <a:srgbClr val="4A4A4A"/>
                </a:solidFill>
                <a:latin typeface="Georgia"/>
              </a:rPr>
              <a:t>Count complaints by product, company, state, and year. Each team edits one cell for its own sector and state.</a:t>
            </a:r>
          </a:p>
        </p:txBody>
      </p:sp>
      <p:sp>
        <p:nvSpPr>
          <p:cNvPr id="9" name="TextBox 8"/>
          <p:cNvSpPr txBox="1"/>
          <p:nvPr/>
        </p:nvSpPr>
        <p:spPr>
          <a:xfrm>
            <a:off x="1005840" y="3931920"/>
            <a:ext cx="4754880" cy="914400"/>
          </a:xfrm>
          <a:prstGeom prst="rect">
            <a:avLst/>
          </a:prstGeom>
          <a:noFill/>
        </p:spPr>
        <p:txBody>
          <a:bodyPr wrap="square" anchor="t" lIns="0" rIns="0" tIns="0" bIns="0">
            <a:spAutoFit/>
          </a:bodyPr>
          <a:lstStyle/>
          <a:p>
            <a:pPr algn="l">
              <a:lnSpc>
                <a:spcPct val="110000"/>
              </a:lnSpc>
            </a:pPr>
            <a:r>
              <a:rPr sz="1500" b="1">
                <a:solidFill>
                  <a:srgbClr val="840028"/>
                </a:solidFill>
                <a:latin typeface="Georgia"/>
              </a:rPr>
              <a:t>You leave with: </a:t>
            </a:r>
            <a:r>
              <a:rPr sz="1500" b="0">
                <a:solidFill>
                  <a:srgbClr val="000000"/>
                </a:solidFill>
                <a:latin typeface="Georgia"/>
              </a:rPr>
              <a:t>Three numbers for your Monetization Canvas (due Oct 23).</a:t>
            </a:r>
          </a:p>
        </p:txBody>
      </p:sp>
      <p:sp>
        <p:nvSpPr>
          <p:cNvPr id="10" name="Rectangle 9"/>
          <p:cNvSpPr/>
          <p:nvPr/>
        </p:nvSpPr>
        <p:spPr>
          <a:xfrm>
            <a:off x="6217920" y="2148840"/>
            <a:ext cx="5330952" cy="2788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148840"/>
            <a:ext cx="109728" cy="2788920"/>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286000"/>
            <a:ext cx="4754880" cy="457200"/>
          </a:xfrm>
          <a:prstGeom prst="rect">
            <a:avLst/>
          </a:prstGeom>
          <a:noFill/>
        </p:spPr>
        <p:txBody>
          <a:bodyPr wrap="square" anchor="t" lIns="0" rIns="0" tIns="0" bIns="0">
            <a:spAutoFit/>
          </a:bodyPr>
          <a:lstStyle/>
          <a:p>
            <a:pPr algn="l">
              <a:lnSpc>
                <a:spcPct val="110000"/>
              </a:lnSpc>
            </a:pPr>
            <a:r>
              <a:rPr sz="2000" b="1">
                <a:solidFill>
                  <a:srgbClr val="840028"/>
                </a:solidFill>
                <a:latin typeface="Arial"/>
              </a:rPr>
              <a:t>NOV 4   </a:t>
            </a:r>
            <a:r>
              <a:rPr sz="2000" b="1">
                <a:solidFill>
                  <a:srgbClr val="000000"/>
                </a:solidFill>
                <a:latin typeface="Arial"/>
              </a:rPr>
              <a:t>FINDING THE PAIN POINT</a:t>
            </a:r>
          </a:p>
        </p:txBody>
      </p:sp>
      <p:sp>
        <p:nvSpPr>
          <p:cNvPr id="13" name="TextBox 12"/>
          <p:cNvSpPr txBox="1"/>
          <p:nvPr/>
        </p:nvSpPr>
        <p:spPr>
          <a:xfrm>
            <a:off x="6583680" y="2834640"/>
            <a:ext cx="4754880" cy="1097280"/>
          </a:xfrm>
          <a:prstGeom prst="rect">
            <a:avLst/>
          </a:prstGeom>
          <a:noFill/>
        </p:spPr>
        <p:txBody>
          <a:bodyPr wrap="square" anchor="t" lIns="0" rIns="0" tIns="0" bIns="0">
            <a:spAutoFit/>
          </a:bodyPr>
          <a:lstStyle/>
          <a:p>
            <a:pPr algn="l">
              <a:lnSpc>
                <a:spcPct val="110000"/>
              </a:lnSpc>
            </a:pPr>
            <a:r>
              <a:rPr sz="1500" b="0">
                <a:solidFill>
                  <a:srgbClr val="4A4A4A"/>
                </a:solidFill>
                <a:latin typeface="Georgia"/>
              </a:rPr>
              <a:t>Read the complaint narratives at scale and pull the theme closest to your team's business problem.</a:t>
            </a:r>
          </a:p>
        </p:txBody>
      </p:sp>
      <p:sp>
        <p:nvSpPr>
          <p:cNvPr id="14" name="TextBox 13"/>
          <p:cNvSpPr txBox="1"/>
          <p:nvPr/>
        </p:nvSpPr>
        <p:spPr>
          <a:xfrm>
            <a:off x="6583680" y="3931920"/>
            <a:ext cx="4754880" cy="914400"/>
          </a:xfrm>
          <a:prstGeom prst="rect">
            <a:avLst/>
          </a:prstGeom>
          <a:noFill/>
        </p:spPr>
        <p:txBody>
          <a:bodyPr wrap="square" anchor="t" lIns="0" rIns="0" tIns="0" bIns="0">
            <a:spAutoFit/>
          </a:bodyPr>
          <a:lstStyle/>
          <a:p>
            <a:pPr algn="l">
              <a:lnSpc>
                <a:spcPct val="110000"/>
              </a:lnSpc>
            </a:pPr>
            <a:r>
              <a:rPr sz="1500" b="1">
                <a:solidFill>
                  <a:srgbClr val="840028"/>
                </a:solidFill>
                <a:latin typeface="Georgia"/>
              </a:rPr>
              <a:t>You leave with: </a:t>
            </a:r>
            <a:r>
              <a:rPr sz="1500" b="0">
                <a:solidFill>
                  <a:srgbClr val="000000"/>
                </a:solidFill>
                <a:latin typeface="Georgia"/>
              </a:rPr>
              <a:t>The pain point, with numbers, for your business model and your Dec 4 pitch.</a:t>
            </a:r>
          </a:p>
        </p:txBody>
      </p:sp>
      <p:sp>
        <p:nvSpPr>
          <p:cNvPr id="15" name="Rectangle 14"/>
          <p:cNvSpPr/>
          <p:nvPr/>
        </p:nvSpPr>
        <p:spPr>
          <a:xfrm>
            <a:off x="640080" y="5166360"/>
            <a:ext cx="10908792"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166360"/>
            <a:ext cx="109728" cy="914400"/>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166360"/>
            <a:ext cx="10332720" cy="914400"/>
          </a:xfrm>
          <a:prstGeom prst="rect">
            <a:avLst/>
          </a:prstGeom>
          <a:noFill/>
        </p:spPr>
        <p:txBody>
          <a:bodyPr wrap="square" anchor="ctr" lIns="0" rIns="0" tIns="0" bIns="0">
            <a:spAutoFit/>
          </a:bodyPr>
          <a:lstStyle/>
          <a:p>
            <a:pPr algn="l">
              <a:lnSpc>
                <a:spcPct val="110000"/>
              </a:lnSpc>
            </a:pPr>
            <a:r>
              <a:rPr sz="1500" b="1">
                <a:solidFill>
                  <a:srgbClr val="840028"/>
                </a:solidFill>
                <a:latin typeface="Arial"/>
              </a:rPr>
              <a:t>WHY IT MATTERS  </a:t>
            </a:r>
            <a:r>
              <a:rPr sz="1600" b="0">
                <a:solidFill>
                  <a:srgbClr val="000000"/>
                </a:solidFill>
                <a:latin typeface="Georgia"/>
              </a:rPr>
              <a:t>Swap "we think people struggle with payments" for "this many people said so." The pain points you find this fall become the requirements for your open payments prototype in the spring.</a:t>
            </a:r>
          </a:p>
        </p:txBody>
      </p:sp>
      <p:sp>
        <p:nvSpPr>
          <p:cNvPr id="18" name="TextBox 17"/>
          <p:cNvSpPr txBox="1"/>
          <p:nvPr/>
        </p:nvSpPr>
        <p:spPr>
          <a:xfrm>
            <a:off x="640080" y="6400800"/>
            <a:ext cx="7315200" cy="274320"/>
          </a:xfrm>
          <a:prstGeom prst="rect">
            <a:avLst/>
          </a:prstGeom>
          <a:noFill/>
        </p:spPr>
        <p:txBody>
          <a:bodyPr wrap="square" anchor="t" lIns="0" rIns="0" tIns="0" bIns="0">
            <a:spAutoFit/>
          </a:bodyPr>
          <a:lstStyle/>
          <a:p>
            <a:pPr algn="l">
              <a:lnSpc>
                <a:spcPct val="110000"/>
              </a:lnSpc>
            </a:pPr>
            <a:r>
              <a:rPr sz="1000" b="1">
                <a:solidFill>
                  <a:srgbClr val="D8B8C2"/>
                </a:solidFill>
                <a:latin typeface="Arial"/>
              </a:rPr>
              <a:t>MOREHOUSE SUPERCOMPUTING FACILITY  ·  HPC OFFICE HOURS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anchor="t" lIns="0" rIns="0" tIns="0" bIns="0">
            <a:spAutoFit/>
          </a:bodyPr>
          <a:lstStyle/>
          <a:p>
            <a:pPr algn="l">
              <a:lnSpc>
                <a:spcPct val="110000"/>
              </a:lnSpc>
            </a:pPr>
            <a:r>
              <a:rPr sz="3400" b="1">
                <a:solidFill>
                  <a:srgbClr val="840028"/>
                </a:solidFill>
                <a:latin typeface="Arial"/>
              </a:rPr>
              <a:t>LET'S CONNECT</a:t>
            </a:r>
          </a:p>
        </p:txBody>
      </p:sp>
      <p:sp>
        <p:nvSpPr>
          <p:cNvPr id="3" name="Rectangle 2"/>
          <p:cNvSpPr/>
          <p:nvPr/>
        </p:nvSpPr>
        <p:spPr>
          <a:xfrm>
            <a:off x="640080" y="1344168"/>
            <a:ext cx="1005840" cy="73152"/>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737360"/>
            <a:ext cx="5317236" cy="4023360"/>
          </a:xfrm>
          <a:prstGeom prst="rect">
            <a:avLst/>
          </a:prstGeom>
          <a:solidFill>
            <a:srgbClr val="84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37360"/>
            <a:ext cx="5317236" cy="73152"/>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4585716" cy="457200"/>
          </a:xfrm>
          <a:prstGeom prst="rect">
            <a:avLst/>
          </a:prstGeom>
          <a:noFill/>
        </p:spPr>
        <p:txBody>
          <a:bodyPr wrap="square" anchor="t" lIns="0" rIns="0" tIns="0" bIns="0">
            <a:spAutoFit/>
          </a:bodyPr>
          <a:lstStyle/>
          <a:p>
            <a:pPr algn="l">
              <a:lnSpc>
                <a:spcPct val="110000"/>
              </a:lnSpc>
            </a:pPr>
            <a:r>
              <a:rPr sz="2000" b="1">
                <a:solidFill>
                  <a:srgbClr val="C1A231"/>
                </a:solidFill>
                <a:latin typeface="Arial"/>
              </a:rPr>
              <a:t>DR. ASHLEY SCRUSE</a:t>
            </a:r>
          </a:p>
        </p:txBody>
      </p:sp>
      <p:sp>
        <p:nvSpPr>
          <p:cNvPr id="7" name="TextBox 6"/>
          <p:cNvSpPr txBox="1"/>
          <p:nvPr/>
        </p:nvSpPr>
        <p:spPr>
          <a:xfrm>
            <a:off x="1005840" y="2697480"/>
            <a:ext cx="4585716" cy="274320"/>
          </a:xfrm>
          <a:prstGeom prst="rect">
            <a:avLst/>
          </a:prstGeom>
          <a:noFill/>
        </p:spPr>
        <p:txBody>
          <a:bodyPr wrap="square" anchor="t" lIns="0" rIns="0" tIns="0" bIns="0">
            <a:spAutoFit/>
          </a:bodyPr>
          <a:lstStyle/>
          <a:p>
            <a:pPr algn="l">
              <a:lnSpc>
                <a:spcPct val="110000"/>
              </a:lnSpc>
            </a:pPr>
            <a:r>
              <a:rPr sz="1200" b="1">
                <a:solidFill>
                  <a:srgbClr val="D8B8C2"/>
                </a:solidFill>
                <a:latin typeface="Arial"/>
              </a:rPr>
              <a:t>LINKEDIN</a:t>
            </a:r>
          </a:p>
        </p:txBody>
      </p:sp>
      <p:sp>
        <p:nvSpPr>
          <p:cNvPr id="8" name="TextBox 7"/>
          <p:cNvSpPr txBox="1"/>
          <p:nvPr/>
        </p:nvSpPr>
        <p:spPr>
          <a:xfrm>
            <a:off x="1005840" y="2971800"/>
            <a:ext cx="4585716" cy="365760"/>
          </a:xfrm>
          <a:prstGeom prst="rect">
            <a:avLst/>
          </a:prstGeom>
          <a:noFill/>
        </p:spPr>
        <p:txBody>
          <a:bodyPr wrap="square" anchor="t" lIns="0" rIns="0" tIns="0" bIns="0">
            <a:spAutoFit/>
          </a:bodyPr>
          <a:lstStyle/>
          <a:p>
            <a:pPr algn="l">
              <a:lnSpc>
                <a:spcPct val="110000"/>
              </a:lnSpc>
            </a:pPr>
            <a:r>
              <a:rPr sz="1800" b="0">
                <a:solidFill>
                  <a:srgbClr val="FFFFFF"/>
                </a:solidFill>
                <a:latin typeface="Georgia"/>
              </a:rPr>
              <a:t>linkedin.com/in/ashleyscruse</a:t>
            </a:r>
          </a:p>
        </p:txBody>
      </p:sp>
      <p:sp>
        <p:nvSpPr>
          <p:cNvPr id="9" name="TextBox 8"/>
          <p:cNvSpPr txBox="1"/>
          <p:nvPr/>
        </p:nvSpPr>
        <p:spPr>
          <a:xfrm>
            <a:off x="1005840" y="3429000"/>
            <a:ext cx="4585716" cy="274320"/>
          </a:xfrm>
          <a:prstGeom prst="rect">
            <a:avLst/>
          </a:prstGeom>
          <a:noFill/>
        </p:spPr>
        <p:txBody>
          <a:bodyPr wrap="square" anchor="t" lIns="0" rIns="0" tIns="0" bIns="0">
            <a:spAutoFit/>
          </a:bodyPr>
          <a:lstStyle/>
          <a:p>
            <a:pPr algn="l">
              <a:lnSpc>
                <a:spcPct val="110000"/>
              </a:lnSpc>
            </a:pPr>
            <a:r>
              <a:rPr sz="1200" b="1">
                <a:solidFill>
                  <a:srgbClr val="D8B8C2"/>
                </a:solidFill>
                <a:latin typeface="Arial"/>
              </a:rPr>
              <a:t>EMAIL</a:t>
            </a:r>
          </a:p>
        </p:txBody>
      </p:sp>
      <p:sp>
        <p:nvSpPr>
          <p:cNvPr id="10" name="TextBox 9"/>
          <p:cNvSpPr txBox="1"/>
          <p:nvPr/>
        </p:nvSpPr>
        <p:spPr>
          <a:xfrm>
            <a:off x="1005840" y="3703320"/>
            <a:ext cx="4585716" cy="365760"/>
          </a:xfrm>
          <a:prstGeom prst="rect">
            <a:avLst/>
          </a:prstGeom>
          <a:noFill/>
        </p:spPr>
        <p:txBody>
          <a:bodyPr wrap="square" anchor="t" lIns="0" rIns="0" tIns="0" bIns="0">
            <a:spAutoFit/>
          </a:bodyPr>
          <a:lstStyle/>
          <a:p>
            <a:pPr algn="l">
              <a:lnSpc>
                <a:spcPct val="110000"/>
              </a:lnSpc>
            </a:pPr>
            <a:r>
              <a:rPr sz="1800" b="0">
                <a:solidFill>
                  <a:srgbClr val="FFFFFF"/>
                </a:solidFill>
                <a:latin typeface="Georgia"/>
              </a:rPr>
              <a:t>ashley.scruse@morehouse.edu</a:t>
            </a:r>
          </a:p>
        </p:txBody>
      </p:sp>
      <p:sp>
        <p:nvSpPr>
          <p:cNvPr id="11" name="TextBox 10"/>
          <p:cNvSpPr txBox="1"/>
          <p:nvPr/>
        </p:nvSpPr>
        <p:spPr>
          <a:xfrm>
            <a:off x="1005840" y="4160520"/>
            <a:ext cx="4585716" cy="274320"/>
          </a:xfrm>
          <a:prstGeom prst="rect">
            <a:avLst/>
          </a:prstGeom>
          <a:noFill/>
        </p:spPr>
        <p:txBody>
          <a:bodyPr wrap="square" anchor="t" lIns="0" rIns="0" tIns="0" bIns="0">
            <a:spAutoFit/>
          </a:bodyPr>
          <a:lstStyle/>
          <a:p>
            <a:pPr algn="l">
              <a:lnSpc>
                <a:spcPct val="110000"/>
              </a:lnSpc>
            </a:pPr>
            <a:r>
              <a:rPr sz="1200" b="1">
                <a:solidFill>
                  <a:srgbClr val="D8B8C2"/>
                </a:solidFill>
                <a:latin typeface="Arial"/>
              </a:rPr>
              <a:t>GITHUB</a:t>
            </a:r>
          </a:p>
        </p:txBody>
      </p:sp>
      <p:sp>
        <p:nvSpPr>
          <p:cNvPr id="12" name="TextBox 11"/>
          <p:cNvSpPr txBox="1"/>
          <p:nvPr/>
        </p:nvSpPr>
        <p:spPr>
          <a:xfrm>
            <a:off x="1005840" y="4434840"/>
            <a:ext cx="4585716" cy="365760"/>
          </a:xfrm>
          <a:prstGeom prst="rect">
            <a:avLst/>
          </a:prstGeom>
          <a:noFill/>
        </p:spPr>
        <p:txBody>
          <a:bodyPr wrap="square" anchor="t" lIns="0" rIns="0" tIns="0" bIns="0">
            <a:spAutoFit/>
          </a:bodyPr>
          <a:lstStyle/>
          <a:p>
            <a:pPr algn="l">
              <a:lnSpc>
                <a:spcPct val="110000"/>
              </a:lnSpc>
            </a:pPr>
            <a:r>
              <a:rPr sz="1800" b="0">
                <a:solidFill>
                  <a:srgbClr val="FFFFFF"/>
                </a:solidFill>
                <a:latin typeface="Georgia"/>
              </a:rPr>
              <a:t>github.com/ashleyscruse</a:t>
            </a:r>
          </a:p>
        </p:txBody>
      </p:sp>
      <p:sp>
        <p:nvSpPr>
          <p:cNvPr id="13" name="Rectangle 12"/>
          <p:cNvSpPr/>
          <p:nvPr/>
        </p:nvSpPr>
        <p:spPr>
          <a:xfrm>
            <a:off x="6231636" y="1737360"/>
            <a:ext cx="5317236" cy="4023360"/>
          </a:xfrm>
          <a:prstGeom prst="rect">
            <a:avLst/>
          </a:prstGeom>
          <a:solidFill>
            <a:srgbClr val="F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31636" y="1737360"/>
            <a:ext cx="5317236" cy="73152"/>
          </a:xfrm>
          <a:prstGeom prst="rect">
            <a:avLst/>
          </a:prstGeom>
          <a:solidFill>
            <a:srgbClr val="C1A2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7396" y="2011680"/>
            <a:ext cx="4585716" cy="457200"/>
          </a:xfrm>
          <a:prstGeom prst="rect">
            <a:avLst/>
          </a:prstGeom>
          <a:noFill/>
        </p:spPr>
        <p:txBody>
          <a:bodyPr wrap="square" anchor="t" lIns="0" rIns="0" tIns="0" bIns="0">
            <a:spAutoFit/>
          </a:bodyPr>
          <a:lstStyle/>
          <a:p>
            <a:pPr algn="l">
              <a:lnSpc>
                <a:spcPct val="110000"/>
              </a:lnSpc>
            </a:pPr>
            <a:r>
              <a:rPr sz="2000" b="1">
                <a:solidFill>
                  <a:srgbClr val="840028"/>
                </a:solidFill>
                <a:latin typeface="Arial"/>
              </a:rPr>
              <a:t>STAY LOCKED IN</a:t>
            </a:r>
          </a:p>
        </p:txBody>
      </p:sp>
      <p:sp>
        <p:nvSpPr>
          <p:cNvPr id="16" name="TextBox 15"/>
          <p:cNvSpPr txBox="1"/>
          <p:nvPr/>
        </p:nvSpPr>
        <p:spPr>
          <a:xfrm>
            <a:off x="6597396" y="2697480"/>
            <a:ext cx="4585716" cy="274320"/>
          </a:xfrm>
          <a:prstGeom prst="rect">
            <a:avLst/>
          </a:prstGeom>
          <a:noFill/>
        </p:spPr>
        <p:txBody>
          <a:bodyPr wrap="square" anchor="t" lIns="0" rIns="0" tIns="0" bIns="0">
            <a:spAutoFit/>
          </a:bodyPr>
          <a:lstStyle/>
          <a:p>
            <a:pPr algn="l">
              <a:lnSpc>
                <a:spcPct val="110000"/>
              </a:lnSpc>
            </a:pPr>
            <a:r>
              <a:rPr sz="1200" b="1">
                <a:solidFill>
                  <a:srgbClr val="4A4A4A"/>
                </a:solidFill>
                <a:latin typeface="Arial"/>
              </a:rPr>
              <a:t>MSF LINKEDIN</a:t>
            </a:r>
          </a:p>
        </p:txBody>
      </p:sp>
      <p:sp>
        <p:nvSpPr>
          <p:cNvPr id="17" name="TextBox 16"/>
          <p:cNvSpPr txBox="1"/>
          <p:nvPr/>
        </p:nvSpPr>
        <p:spPr>
          <a:xfrm>
            <a:off x="6597396" y="2971800"/>
            <a:ext cx="4585716" cy="365760"/>
          </a:xfrm>
          <a:prstGeom prst="rect">
            <a:avLst/>
          </a:prstGeom>
          <a:noFill/>
        </p:spPr>
        <p:txBody>
          <a:bodyPr wrap="square" anchor="t" lIns="0" rIns="0" tIns="0" bIns="0">
            <a:spAutoFit/>
          </a:bodyPr>
          <a:lstStyle/>
          <a:p>
            <a:pPr algn="l">
              <a:lnSpc>
                <a:spcPct val="110000"/>
              </a:lnSpc>
            </a:pPr>
            <a:r>
              <a:rPr sz="1800" b="0">
                <a:solidFill>
                  <a:srgbClr val="000000"/>
                </a:solidFill>
                <a:latin typeface="Georgia"/>
              </a:rPr>
              <a:t>[MSF LinkedIn URL]</a:t>
            </a:r>
          </a:p>
        </p:txBody>
      </p:sp>
      <p:sp>
        <p:nvSpPr>
          <p:cNvPr id="18" name="TextBox 17"/>
          <p:cNvSpPr txBox="1"/>
          <p:nvPr/>
        </p:nvSpPr>
        <p:spPr>
          <a:xfrm>
            <a:off x="6597396" y="3429000"/>
            <a:ext cx="4585716" cy="274320"/>
          </a:xfrm>
          <a:prstGeom prst="rect">
            <a:avLst/>
          </a:prstGeom>
          <a:noFill/>
        </p:spPr>
        <p:txBody>
          <a:bodyPr wrap="square" anchor="t" lIns="0" rIns="0" tIns="0" bIns="0">
            <a:spAutoFit/>
          </a:bodyPr>
          <a:lstStyle/>
          <a:p>
            <a:pPr algn="l">
              <a:lnSpc>
                <a:spcPct val="110000"/>
              </a:lnSpc>
            </a:pPr>
            <a:r>
              <a:rPr sz="1200" b="1">
                <a:solidFill>
                  <a:srgbClr val="4A4A4A"/>
                </a:solidFill>
                <a:latin typeface="Arial"/>
              </a:rPr>
              <a:t>CBPC LINKEDIN</a:t>
            </a:r>
          </a:p>
        </p:txBody>
      </p:sp>
      <p:sp>
        <p:nvSpPr>
          <p:cNvPr id="19" name="TextBox 18"/>
          <p:cNvSpPr txBox="1"/>
          <p:nvPr/>
        </p:nvSpPr>
        <p:spPr>
          <a:xfrm>
            <a:off x="6597396" y="3703320"/>
            <a:ext cx="4585716" cy="365760"/>
          </a:xfrm>
          <a:prstGeom prst="rect">
            <a:avLst/>
          </a:prstGeom>
          <a:noFill/>
        </p:spPr>
        <p:txBody>
          <a:bodyPr wrap="square" anchor="t" lIns="0" rIns="0" tIns="0" bIns="0">
            <a:spAutoFit/>
          </a:bodyPr>
          <a:lstStyle/>
          <a:p>
            <a:pPr algn="l">
              <a:lnSpc>
                <a:spcPct val="110000"/>
              </a:lnSpc>
            </a:pPr>
            <a:r>
              <a:rPr sz="1800" b="0">
                <a:solidFill>
                  <a:srgbClr val="000000"/>
                </a:solidFill>
                <a:latin typeface="Georgia"/>
              </a:rPr>
              <a:t>linkedin.com/company/morehousecbpc</a:t>
            </a:r>
          </a:p>
        </p:txBody>
      </p:sp>
      <p:sp>
        <p:nvSpPr>
          <p:cNvPr id="20" name="TextBox 19"/>
          <p:cNvSpPr txBox="1"/>
          <p:nvPr/>
        </p:nvSpPr>
        <p:spPr>
          <a:xfrm>
            <a:off x="6597396" y="4160520"/>
            <a:ext cx="4585716" cy="274320"/>
          </a:xfrm>
          <a:prstGeom prst="rect">
            <a:avLst/>
          </a:prstGeom>
          <a:noFill/>
        </p:spPr>
        <p:txBody>
          <a:bodyPr wrap="square" anchor="t" lIns="0" rIns="0" tIns="0" bIns="0">
            <a:spAutoFit/>
          </a:bodyPr>
          <a:lstStyle/>
          <a:p>
            <a:pPr algn="l">
              <a:lnSpc>
                <a:spcPct val="110000"/>
              </a:lnSpc>
            </a:pPr>
            <a:r>
              <a:rPr sz="1200" b="1">
                <a:solidFill>
                  <a:srgbClr val="4A4A4A"/>
                </a:solidFill>
                <a:latin typeface="Arial"/>
              </a:rPr>
              <a:t>CBPC</a:t>
            </a:r>
          </a:p>
        </p:txBody>
      </p:sp>
      <p:sp>
        <p:nvSpPr>
          <p:cNvPr id="21" name="TextBox 20"/>
          <p:cNvSpPr txBox="1"/>
          <p:nvPr/>
        </p:nvSpPr>
        <p:spPr>
          <a:xfrm>
            <a:off x="6597396" y="4434840"/>
            <a:ext cx="4585716" cy="365760"/>
          </a:xfrm>
          <a:prstGeom prst="rect">
            <a:avLst/>
          </a:prstGeom>
          <a:noFill/>
        </p:spPr>
        <p:txBody>
          <a:bodyPr wrap="square" anchor="t" lIns="0" rIns="0" tIns="0" bIns="0">
            <a:spAutoFit/>
          </a:bodyPr>
          <a:lstStyle/>
          <a:p>
            <a:pPr algn="l">
              <a:lnSpc>
                <a:spcPct val="110000"/>
              </a:lnSpc>
            </a:pPr>
            <a:r>
              <a:rPr sz="1800" b="0">
                <a:solidFill>
                  <a:srgbClr val="000000"/>
                </a:solidFill>
                <a:latin typeface="Georgia"/>
              </a:rPr>
              <a:t>bpccenter.org</a:t>
            </a:r>
          </a:p>
        </p:txBody>
      </p:sp>
      <p:sp>
        <p:nvSpPr>
          <p:cNvPr id="22" name="TextBox 21"/>
          <p:cNvSpPr txBox="1"/>
          <p:nvPr/>
        </p:nvSpPr>
        <p:spPr>
          <a:xfrm>
            <a:off x="6597396" y="4892040"/>
            <a:ext cx="4585716" cy="274320"/>
          </a:xfrm>
          <a:prstGeom prst="rect">
            <a:avLst/>
          </a:prstGeom>
          <a:noFill/>
        </p:spPr>
        <p:txBody>
          <a:bodyPr wrap="square" anchor="t" lIns="0" rIns="0" tIns="0" bIns="0">
            <a:spAutoFit/>
          </a:bodyPr>
          <a:lstStyle/>
          <a:p>
            <a:pPr algn="l">
              <a:lnSpc>
                <a:spcPct val="110000"/>
              </a:lnSpc>
            </a:pPr>
            <a:r>
              <a:rPr sz="1200" b="1">
                <a:solidFill>
                  <a:srgbClr val="4A4A4A"/>
                </a:solidFill>
                <a:latin typeface="Arial"/>
              </a:rPr>
              <a:t>MSF GITHUB</a:t>
            </a:r>
          </a:p>
        </p:txBody>
      </p:sp>
      <p:sp>
        <p:nvSpPr>
          <p:cNvPr id="23" name="TextBox 22"/>
          <p:cNvSpPr txBox="1"/>
          <p:nvPr/>
        </p:nvSpPr>
        <p:spPr>
          <a:xfrm>
            <a:off x="6597396" y="5166360"/>
            <a:ext cx="4585716" cy="365760"/>
          </a:xfrm>
          <a:prstGeom prst="rect">
            <a:avLst/>
          </a:prstGeom>
          <a:noFill/>
        </p:spPr>
        <p:txBody>
          <a:bodyPr wrap="square" anchor="t" lIns="0" rIns="0" tIns="0" bIns="0">
            <a:spAutoFit/>
          </a:bodyPr>
          <a:lstStyle/>
          <a:p>
            <a:pPr algn="l">
              <a:lnSpc>
                <a:spcPct val="110000"/>
              </a:lnSpc>
            </a:pPr>
            <a:r>
              <a:rPr sz="1800" b="0">
                <a:solidFill>
                  <a:srgbClr val="000000"/>
                </a:solidFill>
                <a:latin typeface="Georgia"/>
              </a:rPr>
              <a:t>github.com/morehouse-supercomputing</a:t>
            </a:r>
          </a:p>
        </p:txBody>
      </p:sp>
      <p:sp>
        <p:nvSpPr>
          <p:cNvPr id="24" name="TextBox 23"/>
          <p:cNvSpPr txBox="1"/>
          <p:nvPr/>
        </p:nvSpPr>
        <p:spPr>
          <a:xfrm>
            <a:off x="640080" y="5897880"/>
            <a:ext cx="10881360" cy="365760"/>
          </a:xfrm>
          <a:prstGeom prst="rect">
            <a:avLst/>
          </a:prstGeom>
          <a:noFill/>
        </p:spPr>
        <p:txBody>
          <a:bodyPr wrap="square" anchor="t" lIns="0" rIns="0" tIns="0" bIns="0">
            <a:spAutoFit/>
          </a:bodyPr>
          <a:lstStyle/>
          <a:p>
            <a:pPr algn="l">
              <a:lnSpc>
                <a:spcPct val="110000"/>
              </a:lnSpc>
            </a:pPr>
            <a:r>
              <a:rPr sz="1600" b="1">
                <a:solidFill>
                  <a:srgbClr val="840028"/>
                </a:solidFill>
                <a:latin typeface="Georgia"/>
              </a:rPr>
              <a:t>Guide from tonight: </a:t>
            </a:r>
            <a:r>
              <a:rPr sz="1600" b="0">
                <a:solidFill>
                  <a:srgbClr val="000000"/>
                </a:solidFill>
                <a:latin typeface="Georgia"/>
              </a:rPr>
              <a:t>morehouse-supercomputing.github.io/hpc-office-hours</a:t>
            </a:r>
          </a:p>
        </p:txBody>
      </p:sp>
      <p:sp>
        <p:nvSpPr>
          <p:cNvPr id="25" name="TextBox 24"/>
          <p:cNvSpPr txBox="1"/>
          <p:nvPr/>
        </p:nvSpPr>
        <p:spPr>
          <a:xfrm>
            <a:off x="640080" y="6400800"/>
            <a:ext cx="7315200" cy="274320"/>
          </a:xfrm>
          <a:prstGeom prst="rect">
            <a:avLst/>
          </a:prstGeom>
          <a:noFill/>
        </p:spPr>
        <p:txBody>
          <a:bodyPr wrap="square" anchor="t" lIns="0" rIns="0" tIns="0" bIns="0">
            <a:spAutoFit/>
          </a:bodyPr>
          <a:lstStyle/>
          <a:p>
            <a:pPr algn="l">
              <a:lnSpc>
                <a:spcPct val="110000"/>
              </a:lnSpc>
            </a:pPr>
            <a:r>
              <a:rPr sz="1000" b="1">
                <a:solidFill>
                  <a:srgbClr val="A7A8AA"/>
                </a:solidFill>
                <a:latin typeface="Arial"/>
              </a:rPr>
              <a:t>MOREHOUSE SUPERCOMPUTING FACILITY  ·  HPC OFFICE HOURS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